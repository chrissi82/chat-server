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Kurze Begrüßung, Namen nennen, Thema ankündigen: TCP-Chat-Server in C++ mit Winsock2 auf Windows. Ruhig und mit klarer Stimme starten, Blickkontakt zur Kamera/Prüfer:in. Nicht zu schnell sprechen - der erste Satz setzt den Ton.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Ziel klar benennen: TCP-Chat mit zwei Programmen. Kurz erklären, warum Port 9000 fest gewählt wurde (willkürlicher, freier Port oberhalb der reservierten Bereiche). Betont und langsam sprechen, da dies der inhaltliche Einstieg ist (Kriterium Einleitung).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Den Ablauf als roten Faden ankündigen: Planung, Setup, Implementierung, Test, und jetzt die Live-Demo. Das gibt der Präsentation eine klare, nachvollziehbare Struktur - Blick kurz über alle fünf Stationen schweifen lassen, dann zur nächsten Folie übergehen.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Fachbegriffe sauber verwenden: verbindungsorientiert vs. verbindungslos, Handshake, Zuverlässigkeit. Kurz begründen, warum TCP die richtige Wahl für einen Chat ist. Hier zeigt sich die fachliche Argumentation - präzise, aber nicht zu lang verweilen.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Diese Folie ist reine Fachsprache - ruhig und mit Betonung auf die Fachbegriffe vortragen: WSAStartup, SOCKET-Typ, WSAGetLastError. Auf Nachfragen vorbereitet sein: 'Warum unterscheidet sich das von Linux?' - weil Winsock eine eigene DLL-Bibliothek ist, die explizit geladen werden muss.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Beide Lebenszyklen nebeneinander erklären und den Moment betonen, in dem sie sich treffen: Server wartet in accept(), Client baut mit connect() die Verbindung auf - das ist der TCP-Handshake. Diese Folie zeigt die Struktur der gesamten Lösung auf einen Blick.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Nicht die ganze Datei zeigen - nur diesen Ausschnitt erklären. Jede Zeile kurz benennen: socket, bind, listen, accept. Betonen, dass accept() blockierend ist - das Programm wartet hier, bis sich ein Client meldet. Ruhiges Sprechtempo, auf den Bildschirm zeigen statt nur vorzulesen.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Parallel zur Server-Folie aufbauen - Publikum erkennt das Muster wieder. Hervorheben: connect() ist das Gegenstück zu accept(). Falls gefragt: inet_pton ersetzt das ältere inet_addr und unterstützt auch IPv6.</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Diese Folie kurz stehen lassen und den Ablauf ansagen, bevor der Bildschirm gewechselt wird - so wissen Prüfer:innen genau, worauf sie achten sollen (wichtig für das Struktur-Kriterium). Danach ruhig zu VS Code wechseln, Fenster vorher schon vorbereitet/angeordnet haben.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Ehrlich über echte Stolpersteine sprechen - das zeigt Rechercheleistung und Problemlösekompetenz, nicht Schwäche. Kurz erklären, wie jeweils diagnostiziert wurde.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Jeden Punkt kurz und selbstbewusst bestätigen - Blickkontakt halten, nicht nur ablesen. Diese Folie ist der fachliche Beleg, dass die Anforderungen erfüllt wurden.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Diese Folie langsam und reflektiert vortragen - hier zeigt sich Eigenständigkeit. Ehrlich benennen, wo KI geholfen hat, aber den Fokus klar darauf legen, was selbst verstanden und verantwortet wurde. Nicht defensiv wirken, sondern souverän: KI als Werkzeug, nicht als Autor der Lösung.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Ruhig und mit klarer Stimme abschließen, nicht hastig. Kurze Pause nach 'Fragen?' lassen, Blickkontakt halten. Auf mögliche Rückfragen vorbereitet: Bind-Fehler, Unterschied TCP/UDP, warum Winsock nötig ist.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cxnSp>
        <p:nvCxnSpPr>
          <p:cNvPr id="2" name="Connector 1"/>
          <p:cNvCxnSpPr/>
          <p:nvPr/>
        </p:nvCxnSpPr>
        <p:spPr>
          <a:xfrm>
            <a:off x="8778240" y="1280160"/>
            <a:ext cx="1828800" cy="1097280"/>
          </a:xfrm>
          <a:prstGeom prst="line">
            <a:avLst/>
          </a:prstGeom>
          <a:ln w="31750">
            <a:solidFill>
              <a:srgbClr val="3A4A8C"/>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flipH="1">
            <a:off x="9509760" y="2377440"/>
            <a:ext cx="1097280" cy="1097280"/>
          </a:xfrm>
          <a:prstGeom prst="line">
            <a:avLst/>
          </a:prstGeom>
          <a:ln w="31750">
            <a:solidFill>
              <a:srgbClr val="3A4A8C"/>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8778240" y="1280160"/>
            <a:ext cx="731520" cy="2194560"/>
          </a:xfrm>
          <a:prstGeom prst="line">
            <a:avLst/>
          </a:prstGeom>
          <a:ln w="31750">
            <a:solidFill>
              <a:srgbClr val="3A4A8C"/>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8503920" y="1051560"/>
            <a:ext cx="502920" cy="502920"/>
          </a:xfrm>
          <a:prstGeom prst="ellipse">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000" b="1">
                <a:solidFill>
                  <a:srgbClr val="FFFFFF"/>
                </a:solidFill>
                <a:latin typeface="Calibri"/>
              </a:rPr>
              <a:t/>
            </a:r>
          </a:p>
        </p:txBody>
      </p:sp>
      <p:sp>
        <p:nvSpPr>
          <p:cNvPr id="6" name="Oval 5"/>
          <p:cNvSpPr/>
          <p:nvPr/>
        </p:nvSpPr>
        <p:spPr>
          <a:xfrm>
            <a:off x="10332720" y="2148840"/>
            <a:ext cx="502920" cy="50292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000" b="1">
                <a:solidFill>
                  <a:srgbClr val="1E2761"/>
                </a:solidFill>
                <a:latin typeface="Calibri"/>
              </a:rPr>
              <a:t/>
            </a:r>
          </a:p>
        </p:txBody>
      </p:sp>
      <p:sp>
        <p:nvSpPr>
          <p:cNvPr id="7" name="Oval 6"/>
          <p:cNvSpPr/>
          <p:nvPr/>
        </p:nvSpPr>
        <p:spPr>
          <a:xfrm>
            <a:off x="9235440" y="3246120"/>
            <a:ext cx="502920" cy="502920"/>
          </a:xfrm>
          <a:prstGeom prst="ellipse">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000" b="1">
                <a:solidFill>
                  <a:srgbClr val="FFFFFF"/>
                </a:solidFill>
                <a:latin typeface="Calibri"/>
              </a:rPr>
              <a:t/>
            </a:r>
          </a:p>
        </p:txBody>
      </p:sp>
      <p:sp>
        <p:nvSpPr>
          <p:cNvPr id="8" name="TextBox 7"/>
          <p:cNvSpPr txBox="1"/>
          <p:nvPr/>
        </p:nvSpPr>
        <p:spPr>
          <a:xfrm>
            <a:off x="640080" y="1554480"/>
            <a:ext cx="7315200" cy="320040"/>
          </a:xfrm>
          <a:prstGeom prst="rect">
            <a:avLst/>
          </a:prstGeom>
          <a:noFill/>
        </p:spPr>
        <p:txBody>
          <a:bodyPr wrap="square" anchor="t" lIns="0" rIns="0" tIns="0" bIns="0">
            <a:spAutoFit/>
          </a:bodyPr>
          <a:lstStyle/>
          <a:p>
            <a:pPr algn="l">
              <a:lnSpc>
                <a:spcPct val="100000"/>
              </a:lnSpc>
              <a:spcAft>
                <a:spcPts val="0"/>
              </a:spcAft>
            </a:pPr>
            <a:r>
              <a:rPr sz="1300" b="1" i="0">
                <a:solidFill>
                  <a:srgbClr val="00B4D8"/>
                </a:solidFill>
                <a:latin typeface="Calibri"/>
              </a:rPr>
              <a:t>FACHPRÜFUNGSPROJEKT · LIVE-DEMONSTRATION</a:t>
            </a:r>
          </a:p>
        </p:txBody>
      </p:sp>
      <p:sp>
        <p:nvSpPr>
          <p:cNvPr id="9" name="TextBox 8"/>
          <p:cNvSpPr txBox="1"/>
          <p:nvPr/>
        </p:nvSpPr>
        <p:spPr>
          <a:xfrm>
            <a:off x="822960" y="1965960"/>
            <a:ext cx="8686800" cy="1463040"/>
          </a:xfrm>
          <a:prstGeom prst="rect">
            <a:avLst/>
          </a:prstGeom>
          <a:noFill/>
        </p:spPr>
        <p:txBody>
          <a:bodyPr wrap="square" anchor="t" lIns="0" rIns="0" tIns="0" bIns="0">
            <a:spAutoFit/>
          </a:bodyPr>
          <a:lstStyle/>
          <a:p>
            <a:pPr algn="l">
              <a:lnSpc>
                <a:spcPct val="100000"/>
              </a:lnSpc>
              <a:spcAft>
                <a:spcPts val="0"/>
              </a:spcAft>
            </a:pPr>
            <a:r>
              <a:rPr sz="4600" b="1" i="0">
                <a:solidFill>
                  <a:srgbClr val="FFFFFF"/>
                </a:solidFill>
                <a:latin typeface="Cambria"/>
              </a:rPr>
              <a:t>TCP Chat-Server in C++</a:t>
            </a:r>
          </a:p>
        </p:txBody>
      </p:sp>
      <p:sp>
        <p:nvSpPr>
          <p:cNvPr id="10" name="TextBox 9"/>
          <p:cNvSpPr txBox="1"/>
          <p:nvPr/>
        </p:nvSpPr>
        <p:spPr>
          <a:xfrm>
            <a:off x="822960" y="3063240"/>
            <a:ext cx="8229600" cy="640080"/>
          </a:xfrm>
          <a:prstGeom prst="rect">
            <a:avLst/>
          </a:prstGeom>
          <a:noFill/>
        </p:spPr>
        <p:txBody>
          <a:bodyPr wrap="square" anchor="t" lIns="0" rIns="0" tIns="0" bIns="0">
            <a:spAutoFit/>
          </a:bodyPr>
          <a:lstStyle/>
          <a:p>
            <a:pPr algn="l">
              <a:lnSpc>
                <a:spcPct val="100000"/>
              </a:lnSpc>
              <a:spcAft>
                <a:spcPts val="0"/>
              </a:spcAft>
            </a:pPr>
            <a:r>
              <a:rPr sz="1900" b="0" i="0">
                <a:solidFill>
                  <a:srgbClr val="CADCFC"/>
                </a:solidFill>
                <a:latin typeface="Calibri"/>
              </a:rPr>
              <a:t>Ein bidirektionaler Chat über Winsock2 auf Port 9000</a:t>
            </a:r>
          </a:p>
        </p:txBody>
      </p:sp>
      <p:sp>
        <p:nvSpPr>
          <p:cNvPr id="11" name="TextBox 10"/>
          <p:cNvSpPr txBox="1"/>
          <p:nvPr/>
        </p:nvSpPr>
        <p:spPr>
          <a:xfrm>
            <a:off x="822960" y="5943600"/>
            <a:ext cx="5486400" cy="365760"/>
          </a:xfrm>
          <a:prstGeom prst="rect">
            <a:avLst/>
          </a:prstGeom>
          <a:noFill/>
        </p:spPr>
        <p:txBody>
          <a:bodyPr wrap="square" anchor="t" lIns="0" rIns="0" tIns="0" bIns="0">
            <a:spAutoFit/>
          </a:bodyPr>
          <a:lstStyle/>
          <a:p>
            <a:pPr algn="l">
              <a:lnSpc>
                <a:spcPct val="100000"/>
              </a:lnSpc>
              <a:spcAft>
                <a:spcPts val="0"/>
              </a:spcAft>
            </a:pPr>
            <a:r>
              <a:rPr sz="1500" b="1" i="0">
                <a:solidFill>
                  <a:srgbClr val="FFFFFF"/>
                </a:solidFill>
                <a:latin typeface="Calibri"/>
              </a:rPr>
              <a:t>Chrissi</a:t>
            </a:r>
          </a:p>
        </p:txBody>
      </p:sp>
      <p:sp>
        <p:nvSpPr>
          <p:cNvPr id="12" name="TextBox 11"/>
          <p:cNvSpPr txBox="1"/>
          <p:nvPr/>
        </p:nvSpPr>
        <p:spPr>
          <a:xfrm>
            <a:off x="822960" y="6263640"/>
            <a:ext cx="5486400" cy="365760"/>
          </a:xfrm>
          <a:prstGeom prst="rect">
            <a:avLst/>
          </a:prstGeom>
          <a:noFill/>
        </p:spPr>
        <p:txBody>
          <a:bodyPr wrap="square" anchor="t" lIns="0" rIns="0" tIns="0" bIns="0">
            <a:spAutoFit/>
          </a:bodyPr>
          <a:lstStyle/>
          <a:p>
            <a:pPr algn="l">
              <a:lnSpc>
                <a:spcPct val="100000"/>
              </a:lnSpc>
              <a:spcAft>
                <a:spcPts val="0"/>
              </a:spcAft>
            </a:pPr>
            <a:r>
              <a:rPr sz="1200" b="0" i="0">
                <a:solidFill>
                  <a:srgbClr val="CADCFC"/>
                </a:solidFill>
                <a:latin typeface="Calibri"/>
              </a:rPr>
              <a:t>04. Juli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TextBox 1"/>
          <p:cNvSpPr txBox="1"/>
          <p:nvPr/>
        </p:nvSpPr>
        <p:spPr>
          <a:xfrm>
            <a:off x="640080" y="457200"/>
            <a:ext cx="10881360" cy="822960"/>
          </a:xfrm>
          <a:prstGeom prst="rect">
            <a:avLst/>
          </a:prstGeom>
          <a:noFill/>
        </p:spPr>
        <p:txBody>
          <a:bodyPr wrap="square" anchor="t" lIns="0" rIns="0" tIns="0" bIns="0">
            <a:spAutoFit/>
          </a:bodyPr>
          <a:lstStyle/>
          <a:p>
            <a:pPr algn="l">
              <a:lnSpc>
                <a:spcPct val="100000"/>
              </a:lnSpc>
              <a:spcAft>
                <a:spcPts val="0"/>
              </a:spcAft>
            </a:pPr>
            <a:r>
              <a:rPr sz="3200" b="1" i="0">
                <a:solidFill>
                  <a:srgbClr val="1E2761"/>
                </a:solidFill>
                <a:latin typeface="Cambria"/>
              </a:rPr>
              <a:t>Ziel des Projekts</a:t>
            </a:r>
          </a:p>
        </p:txBody>
      </p:sp>
      <p:sp>
        <p:nvSpPr>
          <p:cNvPr id="3" name="TextBox 2"/>
          <p:cNvSpPr txBox="1"/>
          <p:nvPr/>
        </p:nvSpPr>
        <p:spPr>
          <a:xfrm>
            <a:off x="640080" y="1463040"/>
            <a:ext cx="6035040" cy="4206240"/>
          </a:xfrm>
          <a:prstGeom prst="rect">
            <a:avLst/>
          </a:prstGeom>
          <a:noFill/>
        </p:spPr>
        <p:txBody>
          <a:bodyPr wrap="square" lIns="0" rIns="0" tIns="0" bIns="0">
            <a:spAutoFit/>
          </a:bodyPr>
          <a:lstStyle/>
          <a:p>
            <a:pPr indent="-201168" marL="201168">
              <a:lnSpc>
                <a:spcPct val="105000"/>
              </a:lnSpc>
              <a:spcAft>
                <a:spcPts val="1600"/>
              </a:spcAft>
              <a:buFont typeface="Calibri"/>
              <a:buChar char="–"/>
            </a:pPr>
            <a:r>
              <a:rPr sz="1700">
                <a:solidFill>
                  <a:srgbClr val="2B2B2B"/>
                </a:solidFill>
                <a:latin typeface="Calibri"/>
              </a:rPr>
              <a:t>Aufgabe: eine TCP-basierte Chat-Anwendung in C++ entwickeln</a:t>
            </a:r>
          </a:p>
          <a:p>
            <a:pPr indent="-201168" marL="201168">
              <a:lnSpc>
                <a:spcPct val="105000"/>
              </a:lnSpc>
              <a:spcAft>
                <a:spcPts val="1600"/>
              </a:spcAft>
              <a:buFont typeface="Calibri"/>
              <a:buChar char="–"/>
            </a:pPr>
            <a:r>
              <a:rPr sz="1700">
                <a:solidFill>
                  <a:srgbClr val="2B2B2B"/>
                </a:solidFill>
                <a:latin typeface="Calibri"/>
              </a:rPr>
              <a:t>Zwei eigenständige Programme: Server und Client</a:t>
            </a:r>
          </a:p>
          <a:p>
            <a:pPr indent="-201168" marL="201168">
              <a:lnSpc>
                <a:spcPct val="105000"/>
              </a:lnSpc>
              <a:spcAft>
                <a:spcPts val="1600"/>
              </a:spcAft>
              <a:buFont typeface="Calibri"/>
              <a:buChar char="–"/>
            </a:pPr>
            <a:r>
              <a:rPr sz="1700">
                <a:solidFill>
                  <a:srgbClr val="2B2B2B"/>
                </a:solidFill>
                <a:latin typeface="Calibri"/>
              </a:rPr>
              <a:t>Kommunikation läuft über einen festen Port (9000)</a:t>
            </a:r>
          </a:p>
          <a:p>
            <a:pPr indent="-201168" marL="201168">
              <a:lnSpc>
                <a:spcPct val="105000"/>
              </a:lnSpc>
              <a:spcAft>
                <a:spcPts val="1600"/>
              </a:spcAft>
              <a:buFont typeface="Calibri"/>
              <a:buChar char="–"/>
            </a:pPr>
            <a:r>
              <a:rPr sz="1700">
                <a:solidFill>
                  <a:srgbClr val="2B2B2B"/>
                </a:solidFill>
                <a:latin typeface="Calibri"/>
              </a:rPr>
              <a:t>Ziel: praktisches Verständnis der Socket-Programmierung unter Windows (Winsock2)</a:t>
            </a:r>
          </a:p>
          <a:p>
            <a:pPr indent="-201168" marL="201168">
              <a:lnSpc>
                <a:spcPct val="105000"/>
              </a:lnSpc>
              <a:spcAft>
                <a:spcPts val="1600"/>
              </a:spcAft>
              <a:buFont typeface="Calibri"/>
              <a:buChar char="–"/>
            </a:pPr>
            <a:r>
              <a:rPr sz="1700">
                <a:solidFill>
                  <a:srgbClr val="2B2B2B"/>
                </a:solidFill>
                <a:latin typeface="Calibri"/>
              </a:rPr>
              <a:t>Ergebnis: lauffähiger, bidirektionaler Konsolen-Chat</a:t>
            </a:r>
          </a:p>
        </p:txBody>
      </p:sp>
      <p:sp>
        <p:nvSpPr>
          <p:cNvPr id="4" name="Rounded Rectangular Callout 3"/>
          <p:cNvSpPr/>
          <p:nvPr/>
        </p:nvSpPr>
        <p:spPr>
          <a:xfrm>
            <a:off x="7406640" y="1737360"/>
            <a:ext cx="3291840" cy="1051560"/>
          </a:xfrm>
          <a:prstGeom prst="wedgeRoundRectCallout">
            <a:avLst>
              <a:gd name="adj1" fmla="val 15000"/>
              <a:gd name="adj2" fmla="val 62500"/>
              <a:gd name="adj3" fmla="val 16667"/>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137160"/>
          <a:lstStyle/>
          <a:p>
            <a:pPr algn="l"/>
            <a:r>
              <a:rPr sz="1500">
                <a:solidFill>
                  <a:srgbClr val="FFFFFF"/>
                </a:solidFill>
                <a:latin typeface="Calibri"/>
              </a:rPr>
              <a:t>[Client]: Hallo Server!</a:t>
            </a:r>
          </a:p>
        </p:txBody>
      </p:sp>
      <p:sp>
        <p:nvSpPr>
          <p:cNvPr id="5" name="Rounded Rectangular Callout 4"/>
          <p:cNvSpPr/>
          <p:nvPr/>
        </p:nvSpPr>
        <p:spPr>
          <a:xfrm>
            <a:off x="7863840" y="3063240"/>
            <a:ext cx="3291840" cy="1051560"/>
          </a:xfrm>
          <a:prstGeom prst="wedgeRoundRectCallout">
            <a:avLst>
              <a:gd name="adj1" fmla="val 15000"/>
              <a:gd name="adj2" fmla="val 62500"/>
              <a:gd name="adj3" fmla="val 16667"/>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137160"/>
          <a:lstStyle/>
          <a:p>
            <a:pPr algn="l"/>
            <a:r>
              <a:rPr sz="1500">
                <a:solidFill>
                  <a:srgbClr val="1E2761"/>
                </a:solidFill>
                <a:latin typeface="Calibri"/>
              </a:rPr>
              <a:t>[Server]: Hallo Client!</a:t>
            </a:r>
          </a:p>
        </p:txBody>
      </p:sp>
      <p:sp>
        <p:nvSpPr>
          <p:cNvPr id="6" name="TextBox 5"/>
          <p:cNvSpPr txBox="1"/>
          <p:nvPr/>
        </p:nvSpPr>
        <p:spPr>
          <a:xfrm>
            <a:off x="7406640" y="4434840"/>
            <a:ext cx="3474720" cy="731520"/>
          </a:xfrm>
          <a:prstGeom prst="rect">
            <a:avLst/>
          </a:prstGeom>
          <a:noFill/>
        </p:spPr>
        <p:txBody>
          <a:bodyPr wrap="square" anchor="t" lIns="0" rIns="0" tIns="0" bIns="0">
            <a:spAutoFit/>
          </a:bodyPr>
          <a:lstStyle/>
          <a:p>
            <a:pPr algn="l">
              <a:lnSpc>
                <a:spcPct val="100000"/>
              </a:lnSpc>
              <a:spcAft>
                <a:spcPts val="0"/>
              </a:spcAft>
            </a:pPr>
            <a:r>
              <a:rPr sz="1200" b="0" i="1">
                <a:solidFill>
                  <a:srgbClr val="5A6B7B"/>
                </a:solidFill>
                <a:latin typeface="Calibri"/>
              </a:rPr>
              <a:t>Textkommunikation über die Konsole – abwechselnd senden und empfangen</a:t>
            </a:r>
          </a:p>
        </p:txBody>
      </p:sp>
      <p:sp>
        <p:nvSpPr>
          <p:cNvPr id="7" name="TextBox 6"/>
          <p:cNvSpPr txBox="1"/>
          <p:nvPr/>
        </p:nvSpPr>
        <p:spPr>
          <a:xfrm>
            <a:off x="640080" y="6473952"/>
            <a:ext cx="7315200" cy="274320"/>
          </a:xfrm>
          <a:prstGeom prst="rect">
            <a:avLst/>
          </a:prstGeom>
          <a:noFill/>
        </p:spPr>
        <p:txBody>
          <a:bodyPr wrap="square" anchor="t" lIns="0" rIns="0" tIns="0" bIns="0">
            <a:spAutoFit/>
          </a:bodyPr>
          <a:lstStyle/>
          <a:p>
            <a:pPr algn="l">
              <a:lnSpc>
                <a:spcPct val="100000"/>
              </a:lnSpc>
              <a:spcAft>
                <a:spcPts val="0"/>
              </a:spcAft>
            </a:pPr>
            <a:r>
              <a:rPr sz="1000" b="0" i="0">
                <a:solidFill>
                  <a:srgbClr val="5A6B7B"/>
                </a:solidFill>
                <a:latin typeface="Calibri"/>
              </a:rPr>
              <a:t>TCP Chat-Server in C++  ·  Fachprüfungsprojekt</a:t>
            </a:r>
          </a:p>
        </p:txBody>
      </p:sp>
      <p:sp>
        <p:nvSpPr>
          <p:cNvPr id="8" name="TextBox 7"/>
          <p:cNvSpPr txBox="1"/>
          <p:nvPr/>
        </p:nvSpPr>
        <p:spPr>
          <a:xfrm>
            <a:off x="11064240" y="6473952"/>
            <a:ext cx="548640" cy="274320"/>
          </a:xfrm>
          <a:prstGeom prst="rect">
            <a:avLst/>
          </a:prstGeom>
          <a:noFill/>
        </p:spPr>
        <p:txBody>
          <a:bodyPr wrap="square" anchor="t" lIns="0" rIns="0" tIns="0" bIns="0">
            <a:spAutoFit/>
          </a:bodyPr>
          <a:lstStyle/>
          <a:p>
            <a:pPr algn="r">
              <a:lnSpc>
                <a:spcPct val="100000"/>
              </a:lnSpc>
              <a:spcAft>
                <a:spcPts val="0"/>
              </a:spcAft>
            </a:pPr>
            <a:r>
              <a:rPr sz="1000" b="0" i="0">
                <a:solidFill>
                  <a:srgbClr val="5A6B7B"/>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TextBox 1"/>
          <p:cNvSpPr txBox="1"/>
          <p:nvPr/>
        </p:nvSpPr>
        <p:spPr>
          <a:xfrm>
            <a:off x="640080" y="457200"/>
            <a:ext cx="10881360" cy="822960"/>
          </a:xfrm>
          <a:prstGeom prst="rect">
            <a:avLst/>
          </a:prstGeom>
          <a:noFill/>
        </p:spPr>
        <p:txBody>
          <a:bodyPr wrap="square" anchor="t" lIns="0" rIns="0" tIns="0" bIns="0">
            <a:spAutoFit/>
          </a:bodyPr>
          <a:lstStyle/>
          <a:p>
            <a:pPr algn="l">
              <a:lnSpc>
                <a:spcPct val="100000"/>
              </a:lnSpc>
              <a:spcAft>
                <a:spcPts val="0"/>
              </a:spcAft>
            </a:pPr>
            <a:r>
              <a:rPr sz="3200" b="1" i="0">
                <a:solidFill>
                  <a:srgbClr val="1E2761"/>
                </a:solidFill>
                <a:latin typeface="Cambria"/>
              </a:rPr>
              <a:t>Vorgehen im Projekt</a:t>
            </a:r>
          </a:p>
        </p:txBody>
      </p:sp>
      <p:sp>
        <p:nvSpPr>
          <p:cNvPr id="3" name="Oval 2"/>
          <p:cNvSpPr/>
          <p:nvPr/>
        </p:nvSpPr>
        <p:spPr>
          <a:xfrm>
            <a:off x="1143000" y="2743200"/>
            <a:ext cx="822960" cy="822960"/>
          </a:xfrm>
          <a:prstGeom prst="ellipse">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600" b="1">
                <a:solidFill>
                  <a:srgbClr val="FFFFFF"/>
                </a:solidFill>
                <a:latin typeface="Calibri"/>
              </a:rPr>
              <a:t>1</a:t>
            </a:r>
          </a:p>
        </p:txBody>
      </p:sp>
      <p:sp>
        <p:nvSpPr>
          <p:cNvPr id="4" name="TextBox 3"/>
          <p:cNvSpPr txBox="1"/>
          <p:nvPr/>
        </p:nvSpPr>
        <p:spPr>
          <a:xfrm>
            <a:off x="640080" y="3703320"/>
            <a:ext cx="1828800" cy="457200"/>
          </a:xfrm>
          <a:prstGeom prst="rect">
            <a:avLst/>
          </a:prstGeom>
          <a:noFill/>
        </p:spPr>
        <p:txBody>
          <a:bodyPr wrap="square" anchor="t" lIns="0" rIns="0" tIns="0" bIns="0">
            <a:spAutoFit/>
          </a:bodyPr>
          <a:lstStyle/>
          <a:p>
            <a:pPr algn="ctr">
              <a:lnSpc>
                <a:spcPct val="100000"/>
              </a:lnSpc>
              <a:spcAft>
                <a:spcPts val="0"/>
              </a:spcAft>
            </a:pPr>
            <a:r>
              <a:rPr sz="1600" b="1" i="0">
                <a:solidFill>
                  <a:srgbClr val="1E2761"/>
                </a:solidFill>
                <a:latin typeface="Calibri"/>
              </a:rPr>
              <a:t>Planung</a:t>
            </a:r>
          </a:p>
        </p:txBody>
      </p:sp>
      <p:sp>
        <p:nvSpPr>
          <p:cNvPr id="5" name="TextBox 4"/>
          <p:cNvSpPr txBox="1"/>
          <p:nvPr/>
        </p:nvSpPr>
        <p:spPr>
          <a:xfrm>
            <a:off x="548640" y="4160520"/>
            <a:ext cx="2011680" cy="914400"/>
          </a:xfrm>
          <a:prstGeom prst="rect">
            <a:avLst/>
          </a:prstGeom>
          <a:noFill/>
        </p:spPr>
        <p:txBody>
          <a:bodyPr wrap="square" anchor="t" lIns="0" rIns="0" tIns="0" bIns="0">
            <a:spAutoFit/>
          </a:bodyPr>
          <a:lstStyle/>
          <a:p>
            <a:pPr algn="ctr">
              <a:lnSpc>
                <a:spcPct val="110000"/>
              </a:lnSpc>
              <a:spcAft>
                <a:spcPts val="0"/>
              </a:spcAft>
            </a:pPr>
            <a:r>
              <a:rPr sz="1150" b="0" i="0">
                <a:solidFill>
                  <a:srgbClr val="5A6B7B"/>
                </a:solidFill>
                <a:latin typeface="Calibri"/>
              </a:rPr>
              <a:t>Anforderungen &amp;</a:t>
            </a:r>
          </a:p>
          <a:p>
            <a:pPr algn="ctr">
              <a:lnSpc>
                <a:spcPct val="110000"/>
              </a:lnSpc>
              <a:spcAft>
                <a:spcPts val="0"/>
              </a:spcAft>
            </a:pPr>
            <a:r>
              <a:rPr sz="1150" b="0" i="0">
                <a:solidFill>
                  <a:srgbClr val="5A6B7B"/>
                </a:solidFill>
                <a:latin typeface="Calibri"/>
              </a:rPr>
              <a:t>Architektur klären</a:t>
            </a:r>
          </a:p>
        </p:txBody>
      </p:sp>
      <p:cxnSp>
        <p:nvCxnSpPr>
          <p:cNvPr id="6" name="Connector 5"/>
          <p:cNvCxnSpPr/>
          <p:nvPr/>
        </p:nvCxnSpPr>
        <p:spPr>
          <a:xfrm>
            <a:off x="2496312" y="3154680"/>
            <a:ext cx="265176" cy="0"/>
          </a:xfrm>
          <a:prstGeom prst="line">
            <a:avLst/>
          </a:prstGeom>
          <a:ln w="38100">
            <a:solidFill>
              <a:srgbClr val="CADCFC"/>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3291839" y="2743200"/>
            <a:ext cx="822960" cy="822960"/>
          </a:xfrm>
          <a:prstGeom prst="ellipse">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600" b="1">
                <a:solidFill>
                  <a:srgbClr val="FFFFFF"/>
                </a:solidFill>
                <a:latin typeface="Calibri"/>
              </a:rPr>
              <a:t>2</a:t>
            </a:r>
          </a:p>
        </p:txBody>
      </p:sp>
      <p:sp>
        <p:nvSpPr>
          <p:cNvPr id="8" name="TextBox 7"/>
          <p:cNvSpPr txBox="1"/>
          <p:nvPr/>
        </p:nvSpPr>
        <p:spPr>
          <a:xfrm>
            <a:off x="2788920" y="3703320"/>
            <a:ext cx="1828800" cy="457200"/>
          </a:xfrm>
          <a:prstGeom prst="rect">
            <a:avLst/>
          </a:prstGeom>
          <a:noFill/>
        </p:spPr>
        <p:txBody>
          <a:bodyPr wrap="square" anchor="t" lIns="0" rIns="0" tIns="0" bIns="0">
            <a:spAutoFit/>
          </a:bodyPr>
          <a:lstStyle/>
          <a:p>
            <a:pPr algn="ctr">
              <a:lnSpc>
                <a:spcPct val="100000"/>
              </a:lnSpc>
              <a:spcAft>
                <a:spcPts val="0"/>
              </a:spcAft>
            </a:pPr>
            <a:r>
              <a:rPr sz="1600" b="1" i="0">
                <a:solidFill>
                  <a:srgbClr val="1E2761"/>
                </a:solidFill>
                <a:latin typeface="Calibri"/>
              </a:rPr>
              <a:t>Setup</a:t>
            </a:r>
          </a:p>
        </p:txBody>
      </p:sp>
      <p:sp>
        <p:nvSpPr>
          <p:cNvPr id="9" name="TextBox 8"/>
          <p:cNvSpPr txBox="1"/>
          <p:nvPr/>
        </p:nvSpPr>
        <p:spPr>
          <a:xfrm>
            <a:off x="2697479" y="4160520"/>
            <a:ext cx="2011680" cy="914400"/>
          </a:xfrm>
          <a:prstGeom prst="rect">
            <a:avLst/>
          </a:prstGeom>
          <a:noFill/>
        </p:spPr>
        <p:txBody>
          <a:bodyPr wrap="square" anchor="t" lIns="0" rIns="0" tIns="0" bIns="0">
            <a:spAutoFit/>
          </a:bodyPr>
          <a:lstStyle/>
          <a:p>
            <a:pPr algn="ctr">
              <a:lnSpc>
                <a:spcPct val="110000"/>
              </a:lnSpc>
              <a:spcAft>
                <a:spcPts val="0"/>
              </a:spcAft>
            </a:pPr>
            <a:r>
              <a:rPr sz="1150" b="0" i="0">
                <a:solidFill>
                  <a:srgbClr val="5A6B7B"/>
                </a:solidFill>
                <a:latin typeface="Calibri"/>
              </a:rPr>
              <a:t>VS Code, Compiler</a:t>
            </a:r>
          </a:p>
          <a:p>
            <a:pPr algn="ctr">
              <a:lnSpc>
                <a:spcPct val="110000"/>
              </a:lnSpc>
              <a:spcAft>
                <a:spcPts val="0"/>
              </a:spcAft>
            </a:pPr>
            <a:r>
              <a:rPr sz="1150" b="0" i="0">
                <a:solidFill>
                  <a:srgbClr val="5A6B7B"/>
                </a:solidFill>
                <a:latin typeface="Calibri"/>
              </a:rPr>
              <a:t>(MinGW-w64) einrichten</a:t>
            </a:r>
          </a:p>
        </p:txBody>
      </p:sp>
      <p:cxnSp>
        <p:nvCxnSpPr>
          <p:cNvPr id="10" name="Connector 9"/>
          <p:cNvCxnSpPr/>
          <p:nvPr/>
        </p:nvCxnSpPr>
        <p:spPr>
          <a:xfrm>
            <a:off x="4645152" y="3154680"/>
            <a:ext cx="265175" cy="0"/>
          </a:xfrm>
          <a:prstGeom prst="line">
            <a:avLst/>
          </a:prstGeom>
          <a:ln w="38100">
            <a:solidFill>
              <a:srgbClr val="CADCFC"/>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5440680" y="2743200"/>
            <a:ext cx="822960" cy="822960"/>
          </a:xfrm>
          <a:prstGeom prst="ellipse">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600" b="1">
                <a:solidFill>
                  <a:srgbClr val="FFFFFF"/>
                </a:solidFill>
                <a:latin typeface="Calibri"/>
              </a:rPr>
              <a:t>3</a:t>
            </a:r>
          </a:p>
        </p:txBody>
      </p:sp>
      <p:sp>
        <p:nvSpPr>
          <p:cNvPr id="12" name="TextBox 11"/>
          <p:cNvSpPr txBox="1"/>
          <p:nvPr/>
        </p:nvSpPr>
        <p:spPr>
          <a:xfrm>
            <a:off x="4937760" y="3703320"/>
            <a:ext cx="1828800" cy="457200"/>
          </a:xfrm>
          <a:prstGeom prst="rect">
            <a:avLst/>
          </a:prstGeom>
          <a:noFill/>
        </p:spPr>
        <p:txBody>
          <a:bodyPr wrap="square" anchor="t" lIns="0" rIns="0" tIns="0" bIns="0">
            <a:spAutoFit/>
          </a:bodyPr>
          <a:lstStyle/>
          <a:p>
            <a:pPr algn="ctr">
              <a:lnSpc>
                <a:spcPct val="100000"/>
              </a:lnSpc>
              <a:spcAft>
                <a:spcPts val="0"/>
              </a:spcAft>
            </a:pPr>
            <a:r>
              <a:rPr sz="1600" b="1" i="0">
                <a:solidFill>
                  <a:srgbClr val="1E2761"/>
                </a:solidFill>
                <a:latin typeface="Calibri"/>
              </a:rPr>
              <a:t>Implementierung</a:t>
            </a:r>
          </a:p>
        </p:txBody>
      </p:sp>
      <p:sp>
        <p:nvSpPr>
          <p:cNvPr id="13" name="TextBox 12"/>
          <p:cNvSpPr txBox="1"/>
          <p:nvPr/>
        </p:nvSpPr>
        <p:spPr>
          <a:xfrm>
            <a:off x="4846320" y="4160520"/>
            <a:ext cx="2011680" cy="914400"/>
          </a:xfrm>
          <a:prstGeom prst="rect">
            <a:avLst/>
          </a:prstGeom>
          <a:noFill/>
        </p:spPr>
        <p:txBody>
          <a:bodyPr wrap="square" anchor="t" lIns="0" rIns="0" tIns="0" bIns="0">
            <a:spAutoFit/>
          </a:bodyPr>
          <a:lstStyle/>
          <a:p>
            <a:pPr algn="ctr">
              <a:lnSpc>
                <a:spcPct val="110000"/>
              </a:lnSpc>
              <a:spcAft>
                <a:spcPts val="0"/>
              </a:spcAft>
            </a:pPr>
            <a:r>
              <a:rPr sz="1150" b="0" i="0">
                <a:solidFill>
                  <a:srgbClr val="5A6B7B"/>
                </a:solidFill>
                <a:latin typeface="Calibri"/>
              </a:rPr>
              <a:t>server.cpp &amp;</a:t>
            </a:r>
          </a:p>
          <a:p>
            <a:pPr algn="ctr">
              <a:lnSpc>
                <a:spcPct val="110000"/>
              </a:lnSpc>
              <a:spcAft>
                <a:spcPts val="0"/>
              </a:spcAft>
            </a:pPr>
            <a:r>
              <a:rPr sz="1150" b="0" i="0">
                <a:solidFill>
                  <a:srgbClr val="5A6B7B"/>
                </a:solidFill>
                <a:latin typeface="Calibri"/>
              </a:rPr>
              <a:t>client.cpp erstellen</a:t>
            </a:r>
          </a:p>
        </p:txBody>
      </p:sp>
      <p:cxnSp>
        <p:nvCxnSpPr>
          <p:cNvPr id="14" name="Connector 13"/>
          <p:cNvCxnSpPr/>
          <p:nvPr/>
        </p:nvCxnSpPr>
        <p:spPr>
          <a:xfrm>
            <a:off x="6793992" y="3154680"/>
            <a:ext cx="265176" cy="0"/>
          </a:xfrm>
          <a:prstGeom prst="line">
            <a:avLst/>
          </a:prstGeom>
          <a:ln w="38100">
            <a:solidFill>
              <a:srgbClr val="CADCFC"/>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7589520" y="2743200"/>
            <a:ext cx="822960" cy="822960"/>
          </a:xfrm>
          <a:prstGeom prst="ellipse">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600" b="1">
                <a:solidFill>
                  <a:srgbClr val="FFFFFF"/>
                </a:solidFill>
                <a:latin typeface="Calibri"/>
              </a:rPr>
              <a:t>4</a:t>
            </a:r>
          </a:p>
        </p:txBody>
      </p:sp>
      <p:sp>
        <p:nvSpPr>
          <p:cNvPr id="16" name="TextBox 15"/>
          <p:cNvSpPr txBox="1"/>
          <p:nvPr/>
        </p:nvSpPr>
        <p:spPr>
          <a:xfrm>
            <a:off x="7086600" y="3703320"/>
            <a:ext cx="1828800" cy="457200"/>
          </a:xfrm>
          <a:prstGeom prst="rect">
            <a:avLst/>
          </a:prstGeom>
          <a:noFill/>
        </p:spPr>
        <p:txBody>
          <a:bodyPr wrap="square" anchor="t" lIns="0" rIns="0" tIns="0" bIns="0">
            <a:spAutoFit/>
          </a:bodyPr>
          <a:lstStyle/>
          <a:p>
            <a:pPr algn="ctr">
              <a:lnSpc>
                <a:spcPct val="100000"/>
              </a:lnSpc>
              <a:spcAft>
                <a:spcPts val="0"/>
              </a:spcAft>
            </a:pPr>
            <a:r>
              <a:rPr sz="1600" b="1" i="0">
                <a:solidFill>
                  <a:srgbClr val="1E2761"/>
                </a:solidFill>
                <a:latin typeface="Calibri"/>
              </a:rPr>
              <a:t>Test</a:t>
            </a:r>
          </a:p>
        </p:txBody>
      </p:sp>
      <p:sp>
        <p:nvSpPr>
          <p:cNvPr id="17" name="TextBox 16"/>
          <p:cNvSpPr txBox="1"/>
          <p:nvPr/>
        </p:nvSpPr>
        <p:spPr>
          <a:xfrm>
            <a:off x="6995160" y="4160520"/>
            <a:ext cx="2011680" cy="914400"/>
          </a:xfrm>
          <a:prstGeom prst="rect">
            <a:avLst/>
          </a:prstGeom>
          <a:noFill/>
        </p:spPr>
        <p:txBody>
          <a:bodyPr wrap="square" anchor="t" lIns="0" rIns="0" tIns="0" bIns="0">
            <a:spAutoFit/>
          </a:bodyPr>
          <a:lstStyle/>
          <a:p>
            <a:pPr algn="ctr">
              <a:lnSpc>
                <a:spcPct val="110000"/>
              </a:lnSpc>
              <a:spcAft>
                <a:spcPts val="0"/>
              </a:spcAft>
            </a:pPr>
            <a:r>
              <a:rPr sz="1150" b="0" i="0">
                <a:solidFill>
                  <a:srgbClr val="5A6B7B"/>
                </a:solidFill>
                <a:latin typeface="Calibri"/>
              </a:rPr>
              <a:t>Build &amp; Funktions-</a:t>
            </a:r>
          </a:p>
          <a:p>
            <a:pPr algn="ctr">
              <a:lnSpc>
                <a:spcPct val="110000"/>
              </a:lnSpc>
              <a:spcAft>
                <a:spcPts val="0"/>
              </a:spcAft>
            </a:pPr>
            <a:r>
              <a:rPr sz="1150" b="0" i="0">
                <a:solidFill>
                  <a:srgbClr val="5A6B7B"/>
                </a:solidFill>
                <a:latin typeface="Calibri"/>
              </a:rPr>
              <a:t>tests durchführen</a:t>
            </a:r>
          </a:p>
        </p:txBody>
      </p:sp>
      <p:cxnSp>
        <p:nvCxnSpPr>
          <p:cNvPr id="18" name="Connector 17"/>
          <p:cNvCxnSpPr/>
          <p:nvPr/>
        </p:nvCxnSpPr>
        <p:spPr>
          <a:xfrm>
            <a:off x="8942832" y="3154680"/>
            <a:ext cx="265176" cy="0"/>
          </a:xfrm>
          <a:prstGeom prst="line">
            <a:avLst/>
          </a:prstGeom>
          <a:ln w="38100">
            <a:solidFill>
              <a:srgbClr val="CADCFC"/>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9738360" y="2743200"/>
            <a:ext cx="822960" cy="82296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600" b="1">
                <a:solidFill>
                  <a:srgbClr val="FFFFFF"/>
                </a:solidFill>
                <a:latin typeface="Calibri"/>
              </a:rPr>
              <a:t>5</a:t>
            </a:r>
          </a:p>
        </p:txBody>
      </p:sp>
      <p:sp>
        <p:nvSpPr>
          <p:cNvPr id="20" name="TextBox 19"/>
          <p:cNvSpPr txBox="1"/>
          <p:nvPr/>
        </p:nvSpPr>
        <p:spPr>
          <a:xfrm>
            <a:off x="9235440" y="3703320"/>
            <a:ext cx="1828800" cy="457200"/>
          </a:xfrm>
          <a:prstGeom prst="rect">
            <a:avLst/>
          </a:prstGeom>
          <a:noFill/>
        </p:spPr>
        <p:txBody>
          <a:bodyPr wrap="square" anchor="t" lIns="0" rIns="0" tIns="0" bIns="0">
            <a:spAutoFit/>
          </a:bodyPr>
          <a:lstStyle/>
          <a:p>
            <a:pPr algn="ctr">
              <a:lnSpc>
                <a:spcPct val="100000"/>
              </a:lnSpc>
              <a:spcAft>
                <a:spcPts val="0"/>
              </a:spcAft>
            </a:pPr>
            <a:r>
              <a:rPr sz="1600" b="1" i="0">
                <a:solidFill>
                  <a:srgbClr val="1E2761"/>
                </a:solidFill>
                <a:latin typeface="Calibri"/>
              </a:rPr>
              <a:t>Live-Demo</a:t>
            </a:r>
          </a:p>
        </p:txBody>
      </p:sp>
      <p:sp>
        <p:nvSpPr>
          <p:cNvPr id="21" name="TextBox 20"/>
          <p:cNvSpPr txBox="1"/>
          <p:nvPr/>
        </p:nvSpPr>
        <p:spPr>
          <a:xfrm>
            <a:off x="9144000" y="4160520"/>
            <a:ext cx="2011680" cy="914400"/>
          </a:xfrm>
          <a:prstGeom prst="rect">
            <a:avLst/>
          </a:prstGeom>
          <a:noFill/>
        </p:spPr>
        <p:txBody>
          <a:bodyPr wrap="square" anchor="t" lIns="0" rIns="0" tIns="0" bIns="0">
            <a:spAutoFit/>
          </a:bodyPr>
          <a:lstStyle/>
          <a:p>
            <a:pPr algn="ctr">
              <a:lnSpc>
                <a:spcPct val="110000"/>
              </a:lnSpc>
              <a:spcAft>
                <a:spcPts val="0"/>
              </a:spcAft>
            </a:pPr>
            <a:r>
              <a:rPr sz="1150" b="0" i="0">
                <a:solidFill>
                  <a:srgbClr val="5A6B7B"/>
                </a:solidFill>
                <a:latin typeface="Calibri"/>
              </a:rPr>
              <a:t>Ablauf hier und</a:t>
            </a:r>
          </a:p>
          <a:p>
            <a:pPr algn="ctr">
              <a:lnSpc>
                <a:spcPct val="110000"/>
              </a:lnSpc>
              <a:spcAft>
                <a:spcPts val="0"/>
              </a:spcAft>
            </a:pPr>
            <a:r>
              <a:rPr sz="1150" b="0" i="0">
                <a:solidFill>
                  <a:srgbClr val="5A6B7B"/>
                </a:solidFill>
                <a:latin typeface="Calibri"/>
              </a:rPr>
              <a:t>jetzt vorführen</a:t>
            </a:r>
          </a:p>
        </p:txBody>
      </p:sp>
      <p:sp>
        <p:nvSpPr>
          <p:cNvPr id="22" name="TextBox 21"/>
          <p:cNvSpPr txBox="1"/>
          <p:nvPr/>
        </p:nvSpPr>
        <p:spPr>
          <a:xfrm>
            <a:off x="640080" y="6473952"/>
            <a:ext cx="7315200" cy="274320"/>
          </a:xfrm>
          <a:prstGeom prst="rect">
            <a:avLst/>
          </a:prstGeom>
          <a:noFill/>
        </p:spPr>
        <p:txBody>
          <a:bodyPr wrap="square" anchor="t" lIns="0" rIns="0" tIns="0" bIns="0">
            <a:spAutoFit/>
          </a:bodyPr>
          <a:lstStyle/>
          <a:p>
            <a:pPr algn="l">
              <a:lnSpc>
                <a:spcPct val="100000"/>
              </a:lnSpc>
              <a:spcAft>
                <a:spcPts val="0"/>
              </a:spcAft>
            </a:pPr>
            <a:r>
              <a:rPr sz="1000" b="0" i="0">
                <a:solidFill>
                  <a:srgbClr val="5A6B7B"/>
                </a:solidFill>
                <a:latin typeface="Calibri"/>
              </a:rPr>
              <a:t>TCP Chat-Server in C++  ·  Fachprüfungsprojekt</a:t>
            </a:r>
          </a:p>
        </p:txBody>
      </p:sp>
      <p:sp>
        <p:nvSpPr>
          <p:cNvPr id="23" name="TextBox 22"/>
          <p:cNvSpPr txBox="1"/>
          <p:nvPr/>
        </p:nvSpPr>
        <p:spPr>
          <a:xfrm>
            <a:off x="11064240" y="6473952"/>
            <a:ext cx="548640" cy="274320"/>
          </a:xfrm>
          <a:prstGeom prst="rect">
            <a:avLst/>
          </a:prstGeom>
          <a:noFill/>
        </p:spPr>
        <p:txBody>
          <a:bodyPr wrap="square" anchor="t" lIns="0" rIns="0" tIns="0" bIns="0">
            <a:spAutoFit/>
          </a:bodyPr>
          <a:lstStyle/>
          <a:p>
            <a:pPr algn="r">
              <a:lnSpc>
                <a:spcPct val="100000"/>
              </a:lnSpc>
              <a:spcAft>
                <a:spcPts val="0"/>
              </a:spcAft>
            </a:pPr>
            <a:r>
              <a:rPr sz="1000" b="0" i="0">
                <a:solidFill>
                  <a:srgbClr val="5A6B7B"/>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TextBox 1"/>
          <p:cNvSpPr txBox="1"/>
          <p:nvPr/>
        </p:nvSpPr>
        <p:spPr>
          <a:xfrm>
            <a:off x="640080" y="457200"/>
            <a:ext cx="10881360" cy="822960"/>
          </a:xfrm>
          <a:prstGeom prst="rect">
            <a:avLst/>
          </a:prstGeom>
          <a:noFill/>
        </p:spPr>
        <p:txBody>
          <a:bodyPr wrap="square" anchor="t" lIns="0" rIns="0" tIns="0" bIns="0">
            <a:spAutoFit/>
          </a:bodyPr>
          <a:lstStyle/>
          <a:p>
            <a:pPr algn="l">
              <a:lnSpc>
                <a:spcPct val="100000"/>
              </a:lnSpc>
              <a:spcAft>
                <a:spcPts val="0"/>
              </a:spcAft>
            </a:pPr>
            <a:r>
              <a:rPr sz="3200" b="1" i="0">
                <a:solidFill>
                  <a:srgbClr val="1E2761"/>
                </a:solidFill>
                <a:latin typeface="Cambria"/>
              </a:rPr>
              <a:t>Technische Grundlagen: TCP vs. UDP</a:t>
            </a:r>
          </a:p>
        </p:txBody>
      </p:sp>
      <p:sp>
        <p:nvSpPr>
          <p:cNvPr id="3" name="Rounded Rectangle 2"/>
          <p:cNvSpPr/>
          <p:nvPr/>
        </p:nvSpPr>
        <p:spPr>
          <a:xfrm>
            <a:off x="640080" y="1554480"/>
            <a:ext cx="5120640" cy="3931920"/>
          </a:xfrm>
          <a:prstGeom prst="roundRect">
            <a:avLst>
              <a:gd name="adj" fmla="val 6000"/>
            </a:avLst>
          </a:prstGeom>
          <a:solidFill>
            <a:srgbClr val="FFFFFF"/>
          </a:solidFill>
          <a:ln w="12700">
            <a:solidFill>
              <a:srgbClr val="00B4D8"/>
            </a:solidFill>
          </a:ln>
          <a:effectLst/>
          <a:effectLst>
            <a:outerShdw blurRad="90000" dist="25000" dir="5400000"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1783080"/>
            <a:ext cx="4572000" cy="457200"/>
          </a:xfrm>
          <a:prstGeom prst="rect">
            <a:avLst/>
          </a:prstGeom>
          <a:noFill/>
        </p:spPr>
        <p:txBody>
          <a:bodyPr wrap="square" anchor="t" lIns="0" rIns="0" tIns="0" bIns="0">
            <a:spAutoFit/>
          </a:bodyPr>
          <a:lstStyle/>
          <a:p>
            <a:pPr algn="l">
              <a:lnSpc>
                <a:spcPct val="100000"/>
              </a:lnSpc>
              <a:spcAft>
                <a:spcPts val="0"/>
              </a:spcAft>
            </a:pPr>
            <a:r>
              <a:rPr sz="2400" b="1" i="0">
                <a:solidFill>
                  <a:srgbClr val="1E2761"/>
                </a:solidFill>
                <a:latin typeface="Cambria"/>
              </a:rPr>
              <a:t>TCP</a:t>
            </a:r>
          </a:p>
        </p:txBody>
      </p:sp>
      <p:sp>
        <p:nvSpPr>
          <p:cNvPr id="5" name="TextBox 4"/>
          <p:cNvSpPr txBox="1"/>
          <p:nvPr/>
        </p:nvSpPr>
        <p:spPr>
          <a:xfrm>
            <a:off x="960120" y="2286000"/>
            <a:ext cx="2743200" cy="320040"/>
          </a:xfrm>
          <a:prstGeom prst="rect">
            <a:avLst/>
          </a:prstGeom>
          <a:noFill/>
        </p:spPr>
        <p:txBody>
          <a:bodyPr wrap="square" anchor="t" lIns="0" rIns="0" tIns="0" bIns="0">
            <a:spAutoFit/>
          </a:bodyPr>
          <a:lstStyle/>
          <a:p>
            <a:pPr algn="l">
              <a:lnSpc>
                <a:spcPct val="100000"/>
              </a:lnSpc>
              <a:spcAft>
                <a:spcPts val="0"/>
              </a:spcAft>
            </a:pPr>
            <a:r>
              <a:rPr sz="1200" b="1" i="0">
                <a:solidFill>
                  <a:srgbClr val="00B4D8"/>
                </a:solidFill>
                <a:latin typeface="Calibri"/>
              </a:rPr>
              <a:t>→ von uns verwendet</a:t>
            </a:r>
          </a:p>
        </p:txBody>
      </p:sp>
      <p:sp>
        <p:nvSpPr>
          <p:cNvPr id="6" name="TextBox 5"/>
          <p:cNvSpPr txBox="1"/>
          <p:nvPr/>
        </p:nvSpPr>
        <p:spPr>
          <a:xfrm>
            <a:off x="960120" y="2743200"/>
            <a:ext cx="4480560" cy="2560320"/>
          </a:xfrm>
          <a:prstGeom prst="rect">
            <a:avLst/>
          </a:prstGeom>
          <a:noFill/>
        </p:spPr>
        <p:txBody>
          <a:bodyPr wrap="square" lIns="0" rIns="0" tIns="0" bIns="0">
            <a:spAutoFit/>
          </a:bodyPr>
          <a:lstStyle/>
          <a:p>
            <a:pPr indent="-201168" marL="201168">
              <a:lnSpc>
                <a:spcPct val="105000"/>
              </a:lnSpc>
              <a:spcAft>
                <a:spcPts val="1200"/>
              </a:spcAft>
              <a:buFont typeface="Calibri"/>
              <a:buChar char="–"/>
            </a:pPr>
            <a:r>
              <a:rPr sz="1500">
                <a:solidFill>
                  <a:srgbClr val="2B2B2B"/>
                </a:solidFill>
                <a:latin typeface="Calibri"/>
              </a:rPr>
              <a:t>Verbindungsorientiert (3-Wege-Handshake)</a:t>
            </a:r>
          </a:p>
          <a:p>
            <a:pPr indent="-201168" marL="201168">
              <a:lnSpc>
                <a:spcPct val="105000"/>
              </a:lnSpc>
              <a:spcAft>
                <a:spcPts val="1200"/>
              </a:spcAft>
              <a:buFont typeface="Calibri"/>
              <a:buChar char="–"/>
            </a:pPr>
            <a:r>
              <a:rPr sz="1500">
                <a:solidFill>
                  <a:srgbClr val="2B2B2B"/>
                </a:solidFill>
                <a:latin typeface="Calibri"/>
              </a:rPr>
              <a:t>Zuverlässig: Pakete kommen garantiert an</a:t>
            </a:r>
          </a:p>
          <a:p>
            <a:pPr indent="-201168" marL="201168">
              <a:lnSpc>
                <a:spcPct val="105000"/>
              </a:lnSpc>
              <a:spcAft>
                <a:spcPts val="1200"/>
              </a:spcAft>
              <a:buFont typeface="Calibri"/>
              <a:buChar char="–"/>
            </a:pPr>
            <a:r>
              <a:rPr sz="1500">
                <a:solidFill>
                  <a:srgbClr val="2B2B2B"/>
                </a:solidFill>
                <a:latin typeface="Calibri"/>
              </a:rPr>
              <a:t>Reihenfolge bleibt erhalten</a:t>
            </a:r>
          </a:p>
          <a:p>
            <a:pPr indent="-201168" marL="201168">
              <a:lnSpc>
                <a:spcPct val="105000"/>
              </a:lnSpc>
              <a:spcAft>
                <a:spcPts val="1200"/>
              </a:spcAft>
              <a:buFont typeface="Calibri"/>
              <a:buChar char="–"/>
            </a:pPr>
            <a:r>
              <a:rPr sz="1500">
                <a:solidFill>
                  <a:srgbClr val="2B2B2B"/>
                </a:solidFill>
                <a:latin typeface="Calibri"/>
              </a:rPr>
              <a:t>Etwas mehr Overhead, dafür stabil</a:t>
            </a:r>
          </a:p>
        </p:txBody>
      </p:sp>
      <p:sp>
        <p:nvSpPr>
          <p:cNvPr id="7" name="Rounded Rectangle 6"/>
          <p:cNvSpPr/>
          <p:nvPr/>
        </p:nvSpPr>
        <p:spPr>
          <a:xfrm>
            <a:off x="6126480" y="1554480"/>
            <a:ext cx="5120640" cy="3931920"/>
          </a:xfrm>
          <a:prstGeom prst="roundRect">
            <a:avLst>
              <a:gd name="adj" fmla="val 6000"/>
            </a:avLst>
          </a:prstGeom>
          <a:solidFill>
            <a:srgbClr val="EEF3FB"/>
          </a:solidFill>
          <a:ln>
            <a:noFill/>
          </a:ln>
          <a:effectLst/>
          <a:effectLst>
            <a:outerShdw blurRad="90000" dist="25000" dir="5400000"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783080"/>
            <a:ext cx="4572000" cy="457200"/>
          </a:xfrm>
          <a:prstGeom prst="rect">
            <a:avLst/>
          </a:prstGeom>
          <a:noFill/>
        </p:spPr>
        <p:txBody>
          <a:bodyPr wrap="square" anchor="t" lIns="0" rIns="0" tIns="0" bIns="0">
            <a:spAutoFit/>
          </a:bodyPr>
          <a:lstStyle/>
          <a:p>
            <a:pPr algn="l">
              <a:lnSpc>
                <a:spcPct val="100000"/>
              </a:lnSpc>
              <a:spcAft>
                <a:spcPts val="0"/>
              </a:spcAft>
            </a:pPr>
            <a:r>
              <a:rPr sz="2400" b="1" i="0">
                <a:solidFill>
                  <a:srgbClr val="5A6B7B"/>
                </a:solidFill>
                <a:latin typeface="Cambria"/>
              </a:rPr>
              <a:t>UDP</a:t>
            </a:r>
          </a:p>
        </p:txBody>
      </p:sp>
      <p:sp>
        <p:nvSpPr>
          <p:cNvPr id="9" name="TextBox 8"/>
          <p:cNvSpPr txBox="1"/>
          <p:nvPr/>
        </p:nvSpPr>
        <p:spPr>
          <a:xfrm>
            <a:off x="6446520" y="2286000"/>
            <a:ext cx="2743200" cy="320040"/>
          </a:xfrm>
          <a:prstGeom prst="rect">
            <a:avLst/>
          </a:prstGeom>
          <a:noFill/>
        </p:spPr>
        <p:txBody>
          <a:bodyPr wrap="square" anchor="t" lIns="0" rIns="0" tIns="0" bIns="0">
            <a:spAutoFit/>
          </a:bodyPr>
          <a:lstStyle/>
          <a:p>
            <a:pPr algn="l">
              <a:lnSpc>
                <a:spcPct val="100000"/>
              </a:lnSpc>
              <a:spcAft>
                <a:spcPts val="0"/>
              </a:spcAft>
            </a:pPr>
            <a:r>
              <a:rPr sz="1200" b="1" i="0">
                <a:solidFill>
                  <a:srgbClr val="5A6B7B"/>
                </a:solidFill>
                <a:latin typeface="Calibri"/>
              </a:rPr>
              <a:t>→ hier nicht verwendet</a:t>
            </a:r>
          </a:p>
        </p:txBody>
      </p:sp>
      <p:sp>
        <p:nvSpPr>
          <p:cNvPr id="10" name="TextBox 9"/>
          <p:cNvSpPr txBox="1"/>
          <p:nvPr/>
        </p:nvSpPr>
        <p:spPr>
          <a:xfrm>
            <a:off x="6446520" y="2743200"/>
            <a:ext cx="4480560" cy="2560320"/>
          </a:xfrm>
          <a:prstGeom prst="rect">
            <a:avLst/>
          </a:prstGeom>
          <a:noFill/>
        </p:spPr>
        <p:txBody>
          <a:bodyPr wrap="square" lIns="0" rIns="0" tIns="0" bIns="0">
            <a:spAutoFit/>
          </a:bodyPr>
          <a:lstStyle/>
          <a:p>
            <a:pPr indent="-201168" marL="201168">
              <a:lnSpc>
                <a:spcPct val="105000"/>
              </a:lnSpc>
              <a:spcAft>
                <a:spcPts val="1200"/>
              </a:spcAft>
              <a:buFont typeface="Calibri"/>
              <a:buChar char="–"/>
            </a:pPr>
            <a:r>
              <a:rPr sz="1500">
                <a:solidFill>
                  <a:srgbClr val="5A6B7B"/>
                </a:solidFill>
                <a:latin typeface="Calibri"/>
              </a:rPr>
              <a:t>Verbindungslos, kein Handshake</a:t>
            </a:r>
          </a:p>
          <a:p>
            <a:pPr indent="-201168" marL="201168">
              <a:lnSpc>
                <a:spcPct val="105000"/>
              </a:lnSpc>
              <a:spcAft>
                <a:spcPts val="1200"/>
              </a:spcAft>
              <a:buFont typeface="Calibri"/>
              <a:buChar char="–"/>
            </a:pPr>
            <a:r>
              <a:rPr sz="1500">
                <a:solidFill>
                  <a:srgbClr val="5A6B7B"/>
                </a:solidFill>
                <a:latin typeface="Calibri"/>
              </a:rPr>
              <a:t>Schneller, aber unzuverlässig</a:t>
            </a:r>
          </a:p>
          <a:p>
            <a:pPr indent="-201168" marL="201168">
              <a:lnSpc>
                <a:spcPct val="105000"/>
              </a:lnSpc>
              <a:spcAft>
                <a:spcPts val="1200"/>
              </a:spcAft>
              <a:buFont typeface="Calibri"/>
              <a:buChar char="–"/>
            </a:pPr>
            <a:r>
              <a:rPr sz="1500">
                <a:solidFill>
                  <a:srgbClr val="5A6B7B"/>
                </a:solidFill>
                <a:latin typeface="Calibri"/>
              </a:rPr>
              <a:t>Keine Garantie für Reihenfolge/Ankunft</a:t>
            </a:r>
          </a:p>
          <a:p>
            <a:pPr indent="-201168" marL="201168">
              <a:lnSpc>
                <a:spcPct val="105000"/>
              </a:lnSpc>
              <a:spcAft>
                <a:spcPts val="1200"/>
              </a:spcAft>
              <a:buFont typeface="Calibri"/>
              <a:buChar char="–"/>
            </a:pPr>
            <a:r>
              <a:rPr sz="1500">
                <a:solidFill>
                  <a:srgbClr val="5A6B7B"/>
                </a:solidFill>
                <a:latin typeface="Calibri"/>
              </a:rPr>
              <a:t>Typisch für Streaming, Gaming, DNS</a:t>
            </a:r>
          </a:p>
        </p:txBody>
      </p:sp>
      <p:sp>
        <p:nvSpPr>
          <p:cNvPr id="11" name="TextBox 10"/>
          <p:cNvSpPr txBox="1"/>
          <p:nvPr/>
        </p:nvSpPr>
        <p:spPr>
          <a:xfrm>
            <a:off x="640080" y="5623560"/>
            <a:ext cx="10607040" cy="548640"/>
          </a:xfrm>
          <a:prstGeom prst="rect">
            <a:avLst/>
          </a:prstGeom>
          <a:noFill/>
        </p:spPr>
        <p:txBody>
          <a:bodyPr wrap="square" anchor="t" lIns="0" rIns="0" tIns="0" bIns="0">
            <a:spAutoFit/>
          </a:bodyPr>
          <a:lstStyle/>
          <a:p>
            <a:pPr algn="l">
              <a:lnSpc>
                <a:spcPct val="100000"/>
              </a:lnSpc>
              <a:spcAft>
                <a:spcPts val="0"/>
              </a:spcAft>
            </a:pPr>
            <a:r>
              <a:rPr sz="1350" b="0" i="1">
                <a:solidFill>
                  <a:srgbClr val="1E2761"/>
                </a:solidFill>
                <a:latin typeface="Calibri"/>
              </a:rPr>
              <a:t>Unser Chat-Server nutzt TCP, weil Zuverlässigkeit und korrekte Reihenfolge wichtiger sind als Geschwindigkeit.</a:t>
            </a:r>
          </a:p>
        </p:txBody>
      </p:sp>
      <p:sp>
        <p:nvSpPr>
          <p:cNvPr id="12" name="TextBox 11"/>
          <p:cNvSpPr txBox="1"/>
          <p:nvPr/>
        </p:nvSpPr>
        <p:spPr>
          <a:xfrm>
            <a:off x="640080" y="6473952"/>
            <a:ext cx="7315200" cy="274320"/>
          </a:xfrm>
          <a:prstGeom prst="rect">
            <a:avLst/>
          </a:prstGeom>
          <a:noFill/>
        </p:spPr>
        <p:txBody>
          <a:bodyPr wrap="square" anchor="t" lIns="0" rIns="0" tIns="0" bIns="0">
            <a:spAutoFit/>
          </a:bodyPr>
          <a:lstStyle/>
          <a:p>
            <a:pPr algn="l">
              <a:lnSpc>
                <a:spcPct val="100000"/>
              </a:lnSpc>
              <a:spcAft>
                <a:spcPts val="0"/>
              </a:spcAft>
            </a:pPr>
            <a:r>
              <a:rPr sz="1000" b="0" i="0">
                <a:solidFill>
                  <a:srgbClr val="5A6B7B"/>
                </a:solidFill>
                <a:latin typeface="Calibri"/>
              </a:rPr>
              <a:t>TCP Chat-Server in C++  ·  Fachprüfungsprojekt</a:t>
            </a:r>
          </a:p>
        </p:txBody>
      </p:sp>
      <p:sp>
        <p:nvSpPr>
          <p:cNvPr id="13" name="TextBox 12"/>
          <p:cNvSpPr txBox="1"/>
          <p:nvPr/>
        </p:nvSpPr>
        <p:spPr>
          <a:xfrm>
            <a:off x="11064240" y="6473952"/>
            <a:ext cx="548640" cy="274320"/>
          </a:xfrm>
          <a:prstGeom prst="rect">
            <a:avLst/>
          </a:prstGeom>
          <a:noFill/>
        </p:spPr>
        <p:txBody>
          <a:bodyPr wrap="square" anchor="t" lIns="0" rIns="0" tIns="0" bIns="0">
            <a:spAutoFit/>
          </a:bodyPr>
          <a:lstStyle/>
          <a:p>
            <a:pPr algn="r">
              <a:lnSpc>
                <a:spcPct val="100000"/>
              </a:lnSpc>
              <a:spcAft>
                <a:spcPts val="0"/>
              </a:spcAft>
            </a:pPr>
            <a:r>
              <a:rPr sz="1000" b="0" i="0">
                <a:solidFill>
                  <a:srgbClr val="5A6B7B"/>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TextBox 1"/>
          <p:cNvSpPr txBox="1"/>
          <p:nvPr/>
        </p:nvSpPr>
        <p:spPr>
          <a:xfrm>
            <a:off x="640080" y="457200"/>
            <a:ext cx="10881360" cy="822960"/>
          </a:xfrm>
          <a:prstGeom prst="rect">
            <a:avLst/>
          </a:prstGeom>
          <a:noFill/>
        </p:spPr>
        <p:txBody>
          <a:bodyPr wrap="square" anchor="t" lIns="0" rIns="0" tIns="0" bIns="0">
            <a:spAutoFit/>
          </a:bodyPr>
          <a:lstStyle/>
          <a:p>
            <a:pPr algn="l">
              <a:lnSpc>
                <a:spcPct val="100000"/>
              </a:lnSpc>
              <a:spcAft>
                <a:spcPts val="0"/>
              </a:spcAft>
            </a:pPr>
            <a:r>
              <a:rPr sz="3200" b="1" i="0">
                <a:solidFill>
                  <a:srgbClr val="1E2761"/>
                </a:solidFill>
                <a:latin typeface="Cambria"/>
              </a:rPr>
              <a:t>Besonderheit: Windows-Sockets (Winsock2)</a:t>
            </a:r>
          </a:p>
        </p:txBody>
      </p:sp>
      <p:graphicFrame>
        <p:nvGraphicFramePr>
          <p:cNvPr id="3" name="Table 2"/>
          <p:cNvGraphicFramePr>
            <a:graphicFrameLocks noGrp="1"/>
          </p:cNvGraphicFramePr>
          <p:nvPr/>
        </p:nvGraphicFramePr>
        <p:xfrm>
          <a:off x="640080" y="1508760"/>
          <a:ext cx="10881360" cy="3017520"/>
        </p:xfrm>
        <a:graphic>
          <a:graphicData uri="http://schemas.openxmlformats.org/drawingml/2006/table">
            <a:tbl>
              <a:tblPr firstRow="1" bandRow="1">
                <a:tableStyleId>{5C22544A-7EE6-4342-B048-85BDC9FD1C3A}</a:tableStyleId>
              </a:tblPr>
              <a:tblGrid>
                <a:gridCol w="2743200"/>
                <a:gridCol w="4480560"/>
                <a:gridCol w="3657600"/>
              </a:tblGrid>
              <a:tr h="502920">
                <a:tc>
                  <a:txBody>
                    <a:bodyPr/>
                    <a:lstStyle/>
                    <a:p>
                      <a:r>
                        <a:rPr sz="1450" b="1">
                          <a:solidFill>
                            <a:srgbClr val="FFFFFF"/>
                          </a:solidFill>
                          <a:latin typeface="Calibri"/>
                        </a:rPr>
                        <a:t>Aspekt</a:t>
                      </a:r>
                    </a:p>
                  </a:txBody>
                  <a:tcPr marL="109728" marR="109728" marT="54864" marB="54864" anchor="ctr">
                    <a:solidFill>
                      <a:srgbClr val="1E2761"/>
                    </a:solidFill>
                  </a:tcPr>
                </a:tc>
                <a:tc>
                  <a:txBody>
                    <a:bodyPr/>
                    <a:lstStyle/>
                    <a:p>
                      <a:r>
                        <a:rPr sz="1450" b="1">
                          <a:solidFill>
                            <a:srgbClr val="FFFFFF"/>
                          </a:solidFill>
                          <a:latin typeface="Calibri"/>
                        </a:rPr>
                        <a:t>Windows (Winsock2)</a:t>
                      </a:r>
                    </a:p>
                  </a:txBody>
                  <a:tcPr marL="109728" marR="109728" marT="54864" marB="54864" anchor="ctr">
                    <a:solidFill>
                      <a:srgbClr val="1E2761"/>
                    </a:solidFill>
                  </a:tcPr>
                </a:tc>
                <a:tc>
                  <a:txBody>
                    <a:bodyPr/>
                    <a:lstStyle/>
                    <a:p>
                      <a:r>
                        <a:rPr sz="1450" b="1">
                          <a:solidFill>
                            <a:srgbClr val="FFFFFF"/>
                          </a:solidFill>
                          <a:latin typeface="Calibri"/>
                        </a:rPr>
                        <a:t>Linux (zum Vergleich)</a:t>
                      </a:r>
                    </a:p>
                  </a:txBody>
                  <a:tcPr marL="109728" marR="109728" marT="54864" marB="54864" anchor="ctr">
                    <a:solidFill>
                      <a:srgbClr val="1E2761"/>
                    </a:solidFill>
                  </a:tcPr>
                </a:tc>
              </a:tr>
              <a:tr h="502920">
                <a:tc>
                  <a:txBody>
                    <a:bodyPr/>
                    <a:lstStyle/>
                    <a:p>
                      <a:r>
                        <a:rPr sz="1450">
                          <a:solidFill>
                            <a:srgbClr val="2B2B2B"/>
                          </a:solidFill>
                          <a:latin typeface="Calibri"/>
                        </a:rPr>
                        <a:t>Initialisierung</a:t>
                      </a:r>
                    </a:p>
                  </a:txBody>
                  <a:tcPr marL="109728" marR="109728" marT="54864" marB="54864" anchor="ctr">
                    <a:solidFill>
                      <a:srgbClr val="FFFFFF"/>
                    </a:solidFill>
                  </a:tcPr>
                </a:tc>
                <a:tc>
                  <a:txBody>
                    <a:bodyPr/>
                    <a:lstStyle/>
                    <a:p>
                      <a:r>
                        <a:rPr sz="1450">
                          <a:solidFill>
                            <a:srgbClr val="2B2B2B"/>
                          </a:solidFill>
                          <a:latin typeface="Calibri"/>
                        </a:rPr>
                        <a:t>WSAStartup() nötig</a:t>
                      </a:r>
                    </a:p>
                  </a:txBody>
                  <a:tcPr marL="109728" marR="109728" marT="54864" marB="54864" anchor="ctr">
                    <a:solidFill>
                      <a:srgbClr val="FFFFFF"/>
                    </a:solidFill>
                  </a:tcPr>
                </a:tc>
                <a:tc>
                  <a:txBody>
                    <a:bodyPr/>
                    <a:lstStyle/>
                    <a:p>
                      <a:r>
                        <a:rPr sz="1450">
                          <a:solidFill>
                            <a:srgbClr val="2B2B2B"/>
                          </a:solidFill>
                          <a:latin typeface="Calibri"/>
                        </a:rPr>
                        <a:t>nicht nötig</a:t>
                      </a:r>
                    </a:p>
                  </a:txBody>
                  <a:tcPr marL="109728" marR="109728" marT="54864" marB="54864" anchor="ctr">
                    <a:solidFill>
                      <a:srgbClr val="FFFFFF"/>
                    </a:solidFill>
                  </a:tcPr>
                </a:tc>
              </a:tr>
              <a:tr h="502920">
                <a:tc>
                  <a:txBody>
                    <a:bodyPr/>
                    <a:lstStyle/>
                    <a:p>
                      <a:r>
                        <a:rPr sz="1450">
                          <a:solidFill>
                            <a:srgbClr val="2B2B2B"/>
                          </a:solidFill>
                          <a:latin typeface="Calibri"/>
                        </a:rPr>
                        <a:t>Socket-Typ</a:t>
                      </a:r>
                    </a:p>
                  </a:txBody>
                  <a:tcPr marL="109728" marR="109728" marT="54864" marB="54864" anchor="ctr">
                    <a:solidFill>
                      <a:srgbClr val="EEF3FB"/>
                    </a:solidFill>
                  </a:tcPr>
                </a:tc>
                <a:tc>
                  <a:txBody>
                    <a:bodyPr/>
                    <a:lstStyle/>
                    <a:p>
                      <a:r>
                        <a:rPr sz="1450">
                          <a:solidFill>
                            <a:srgbClr val="2B2B2B"/>
                          </a:solidFill>
                          <a:latin typeface="Calibri"/>
                        </a:rPr>
                        <a:t>SOCKET</a:t>
                      </a:r>
                    </a:p>
                  </a:txBody>
                  <a:tcPr marL="109728" marR="109728" marT="54864" marB="54864" anchor="ctr">
                    <a:solidFill>
                      <a:srgbClr val="EEF3FB"/>
                    </a:solidFill>
                  </a:tcPr>
                </a:tc>
                <a:tc>
                  <a:txBody>
                    <a:bodyPr/>
                    <a:lstStyle/>
                    <a:p>
                      <a:r>
                        <a:rPr sz="1450">
                          <a:solidFill>
                            <a:srgbClr val="2B2B2B"/>
                          </a:solidFill>
                          <a:latin typeface="Calibri"/>
                        </a:rPr>
                        <a:t>int</a:t>
                      </a:r>
                    </a:p>
                  </a:txBody>
                  <a:tcPr marL="109728" marR="109728" marT="54864" marB="54864" anchor="ctr">
                    <a:solidFill>
                      <a:srgbClr val="EEF3FB"/>
                    </a:solidFill>
                  </a:tcPr>
                </a:tc>
              </a:tr>
              <a:tr h="502920">
                <a:tc>
                  <a:txBody>
                    <a:bodyPr/>
                    <a:lstStyle/>
                    <a:p>
                      <a:r>
                        <a:rPr sz="1450">
                          <a:solidFill>
                            <a:srgbClr val="2B2B2B"/>
                          </a:solidFill>
                          <a:latin typeface="Calibri"/>
                        </a:rPr>
                        <a:t>Fehlercodes</a:t>
                      </a:r>
                    </a:p>
                  </a:txBody>
                  <a:tcPr marL="109728" marR="109728" marT="54864" marB="54864" anchor="ctr">
                    <a:solidFill>
                      <a:srgbClr val="FFFFFF"/>
                    </a:solidFill>
                  </a:tcPr>
                </a:tc>
                <a:tc>
                  <a:txBody>
                    <a:bodyPr/>
                    <a:lstStyle/>
                    <a:p>
                      <a:r>
                        <a:rPr sz="1450">
                          <a:solidFill>
                            <a:srgbClr val="2B2B2B"/>
                          </a:solidFill>
                          <a:latin typeface="Calibri"/>
                        </a:rPr>
                        <a:t>WSAGetLastError()</a:t>
                      </a:r>
                    </a:p>
                  </a:txBody>
                  <a:tcPr marL="109728" marR="109728" marT="54864" marB="54864" anchor="ctr">
                    <a:solidFill>
                      <a:srgbClr val="FFFFFF"/>
                    </a:solidFill>
                  </a:tcPr>
                </a:tc>
                <a:tc>
                  <a:txBody>
                    <a:bodyPr/>
                    <a:lstStyle/>
                    <a:p>
                      <a:r>
                        <a:rPr sz="1450">
                          <a:solidFill>
                            <a:srgbClr val="2B2B2B"/>
                          </a:solidFill>
                          <a:latin typeface="Calibri"/>
                        </a:rPr>
                        <a:t>errno</a:t>
                      </a:r>
                    </a:p>
                  </a:txBody>
                  <a:tcPr marL="109728" marR="109728" marT="54864" marB="54864" anchor="ctr">
                    <a:solidFill>
                      <a:srgbClr val="FFFFFF"/>
                    </a:solidFill>
                  </a:tcPr>
                </a:tc>
              </a:tr>
              <a:tr h="502920">
                <a:tc>
                  <a:txBody>
                    <a:bodyPr/>
                    <a:lstStyle/>
                    <a:p>
                      <a:r>
                        <a:rPr sz="1450">
                          <a:solidFill>
                            <a:srgbClr val="2B2B2B"/>
                          </a:solidFill>
                          <a:latin typeface="Calibri"/>
                        </a:rPr>
                        <a:t>Linker-Flag</a:t>
                      </a:r>
                    </a:p>
                  </a:txBody>
                  <a:tcPr marL="109728" marR="109728" marT="54864" marB="54864" anchor="ctr">
                    <a:solidFill>
                      <a:srgbClr val="EEF3FB"/>
                    </a:solidFill>
                  </a:tcPr>
                </a:tc>
                <a:tc>
                  <a:txBody>
                    <a:bodyPr/>
                    <a:lstStyle/>
                    <a:p>
                      <a:r>
                        <a:rPr sz="1450">
                          <a:solidFill>
                            <a:srgbClr val="2B2B2B"/>
                          </a:solidFill>
                          <a:latin typeface="Calibri"/>
                        </a:rPr>
                        <a:t>-lws2_32</a:t>
                      </a:r>
                    </a:p>
                  </a:txBody>
                  <a:tcPr marL="109728" marR="109728" marT="54864" marB="54864" anchor="ctr">
                    <a:solidFill>
                      <a:srgbClr val="EEF3FB"/>
                    </a:solidFill>
                  </a:tcPr>
                </a:tc>
                <a:tc>
                  <a:txBody>
                    <a:bodyPr/>
                    <a:lstStyle/>
                    <a:p>
                      <a:r>
                        <a:rPr sz="1450">
                          <a:solidFill>
                            <a:srgbClr val="2B2B2B"/>
                          </a:solidFill>
                          <a:latin typeface="Calibri"/>
                        </a:rPr>
                        <a:t>-</a:t>
                      </a:r>
                    </a:p>
                  </a:txBody>
                  <a:tcPr marL="109728" marR="109728" marT="54864" marB="54864" anchor="ctr">
                    <a:solidFill>
                      <a:srgbClr val="EEF3FB"/>
                    </a:solidFill>
                  </a:tcPr>
                </a:tc>
              </a:tr>
              <a:tr h="502920">
                <a:tc>
                  <a:txBody>
                    <a:bodyPr/>
                    <a:lstStyle/>
                    <a:p>
                      <a:r>
                        <a:rPr sz="1450">
                          <a:solidFill>
                            <a:srgbClr val="2B2B2B"/>
                          </a:solidFill>
                          <a:latin typeface="Calibri"/>
                        </a:rPr>
                        <a:t>Aufräumen</a:t>
                      </a:r>
                    </a:p>
                  </a:txBody>
                  <a:tcPr marL="109728" marR="109728" marT="54864" marB="54864" anchor="ctr">
                    <a:solidFill>
                      <a:srgbClr val="FFFFFF"/>
                    </a:solidFill>
                  </a:tcPr>
                </a:tc>
                <a:tc>
                  <a:txBody>
                    <a:bodyPr/>
                    <a:lstStyle/>
                    <a:p>
                      <a:r>
                        <a:rPr sz="1450">
                          <a:solidFill>
                            <a:srgbClr val="2B2B2B"/>
                          </a:solidFill>
                          <a:latin typeface="Calibri"/>
                        </a:rPr>
                        <a:t>WSACleanup() am Ende</a:t>
                      </a:r>
                    </a:p>
                  </a:txBody>
                  <a:tcPr marL="109728" marR="109728" marT="54864" marB="54864" anchor="ctr">
                    <a:solidFill>
                      <a:srgbClr val="FFFFFF"/>
                    </a:solidFill>
                  </a:tcPr>
                </a:tc>
                <a:tc>
                  <a:txBody>
                    <a:bodyPr/>
                    <a:lstStyle/>
                    <a:p>
                      <a:r>
                        <a:rPr sz="1450">
                          <a:solidFill>
                            <a:srgbClr val="2B2B2B"/>
                          </a:solidFill>
                          <a:latin typeface="Calibri"/>
                        </a:rPr>
                        <a:t>-</a:t>
                      </a:r>
                    </a:p>
                  </a:txBody>
                  <a:tcPr marL="109728" marR="109728" marT="54864" marB="54864" anchor="ctr">
                    <a:solidFill>
                      <a:srgbClr val="FFFFFF"/>
                    </a:solidFill>
                  </a:tcPr>
                </a:tc>
              </a:tr>
            </a:tbl>
          </a:graphicData>
        </a:graphic>
      </p:graphicFrame>
      <p:sp>
        <p:nvSpPr>
          <p:cNvPr id="4" name="Rounded Rectangle 3"/>
          <p:cNvSpPr/>
          <p:nvPr/>
        </p:nvSpPr>
        <p:spPr>
          <a:xfrm>
            <a:off x="640080" y="4800600"/>
            <a:ext cx="10881360" cy="1051560"/>
          </a:xfrm>
          <a:prstGeom prst="roundRect">
            <a:avLst>
              <a:gd name="adj" fmla="val 6000"/>
            </a:avLst>
          </a:prstGeom>
          <a:solidFill>
            <a:srgbClr val="EEF3FB"/>
          </a:solidFill>
          <a:ln>
            <a:noFill/>
          </a:ln>
          <a:effectLst/>
          <a:effectLst>
            <a:outerShdw blurRad="90000" dist="25000" dir="5400000"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4983480"/>
            <a:ext cx="10332720" cy="731520"/>
          </a:xfrm>
          <a:prstGeom prst="rect">
            <a:avLst/>
          </a:prstGeom>
          <a:noFill/>
        </p:spPr>
        <p:txBody>
          <a:bodyPr wrap="square" anchor="t" lIns="0" rIns="0" tIns="0" bIns="0">
            <a:spAutoFit/>
          </a:bodyPr>
          <a:lstStyle/>
          <a:p>
            <a:pPr algn="l">
              <a:lnSpc>
                <a:spcPct val="100000"/>
              </a:lnSpc>
              <a:spcAft>
                <a:spcPts val="0"/>
              </a:spcAft>
            </a:pPr>
            <a:r>
              <a:rPr sz="1400" b="1" i="0">
                <a:solidFill>
                  <a:srgbClr val="1E2761"/>
                </a:solidFill>
                <a:latin typeface="Calibri"/>
              </a:rPr>
              <a:t>WSAStartup() muss vor jedem Socket-Aufruf stehen, WSACleanup() immer am Ende – sonst bleiben Ressourcen belegt.</a:t>
            </a:r>
          </a:p>
        </p:txBody>
      </p:sp>
      <p:sp>
        <p:nvSpPr>
          <p:cNvPr id="6" name="TextBox 5"/>
          <p:cNvSpPr txBox="1"/>
          <p:nvPr/>
        </p:nvSpPr>
        <p:spPr>
          <a:xfrm>
            <a:off x="640080" y="6473952"/>
            <a:ext cx="7315200" cy="274320"/>
          </a:xfrm>
          <a:prstGeom prst="rect">
            <a:avLst/>
          </a:prstGeom>
          <a:noFill/>
        </p:spPr>
        <p:txBody>
          <a:bodyPr wrap="square" anchor="t" lIns="0" rIns="0" tIns="0" bIns="0">
            <a:spAutoFit/>
          </a:bodyPr>
          <a:lstStyle/>
          <a:p>
            <a:pPr algn="l">
              <a:lnSpc>
                <a:spcPct val="100000"/>
              </a:lnSpc>
              <a:spcAft>
                <a:spcPts val="0"/>
              </a:spcAft>
            </a:pPr>
            <a:r>
              <a:rPr sz="1000" b="0" i="0">
                <a:solidFill>
                  <a:srgbClr val="5A6B7B"/>
                </a:solidFill>
                <a:latin typeface="Calibri"/>
              </a:rPr>
              <a:t>TCP Chat-Server in C++  ·  Fachprüfungsprojekt</a:t>
            </a:r>
          </a:p>
        </p:txBody>
      </p:sp>
      <p:sp>
        <p:nvSpPr>
          <p:cNvPr id="7" name="TextBox 6"/>
          <p:cNvSpPr txBox="1"/>
          <p:nvPr/>
        </p:nvSpPr>
        <p:spPr>
          <a:xfrm>
            <a:off x="11064240" y="6473952"/>
            <a:ext cx="548640" cy="274320"/>
          </a:xfrm>
          <a:prstGeom prst="rect">
            <a:avLst/>
          </a:prstGeom>
          <a:noFill/>
        </p:spPr>
        <p:txBody>
          <a:bodyPr wrap="square" anchor="t" lIns="0" rIns="0" tIns="0" bIns="0">
            <a:spAutoFit/>
          </a:bodyPr>
          <a:lstStyle/>
          <a:p>
            <a:pPr algn="r">
              <a:lnSpc>
                <a:spcPct val="100000"/>
              </a:lnSpc>
              <a:spcAft>
                <a:spcPts val="0"/>
              </a:spcAft>
            </a:pPr>
            <a:r>
              <a:rPr sz="1000" b="0" i="0">
                <a:solidFill>
                  <a:srgbClr val="5A6B7B"/>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TextBox 1"/>
          <p:cNvSpPr txBox="1"/>
          <p:nvPr/>
        </p:nvSpPr>
        <p:spPr>
          <a:xfrm>
            <a:off x="640080" y="457200"/>
            <a:ext cx="10881360" cy="822960"/>
          </a:xfrm>
          <a:prstGeom prst="rect">
            <a:avLst/>
          </a:prstGeom>
          <a:noFill/>
        </p:spPr>
        <p:txBody>
          <a:bodyPr wrap="square" anchor="t" lIns="0" rIns="0" tIns="0" bIns="0">
            <a:spAutoFit/>
          </a:bodyPr>
          <a:lstStyle/>
          <a:p>
            <a:pPr algn="l">
              <a:lnSpc>
                <a:spcPct val="100000"/>
              </a:lnSpc>
              <a:spcAft>
                <a:spcPts val="0"/>
              </a:spcAft>
            </a:pPr>
            <a:r>
              <a:rPr sz="3200" b="1" i="0">
                <a:solidFill>
                  <a:srgbClr val="1E2761"/>
                </a:solidFill>
                <a:latin typeface="Cambria"/>
              </a:rPr>
              <a:t>Architektur &amp; Programmablauf</a:t>
            </a:r>
          </a:p>
        </p:txBody>
      </p:sp>
      <p:sp>
        <p:nvSpPr>
          <p:cNvPr id="3" name="TextBox 2"/>
          <p:cNvSpPr txBox="1"/>
          <p:nvPr/>
        </p:nvSpPr>
        <p:spPr>
          <a:xfrm>
            <a:off x="822960" y="1325880"/>
            <a:ext cx="4206240" cy="365760"/>
          </a:xfrm>
          <a:prstGeom prst="rect">
            <a:avLst/>
          </a:prstGeom>
          <a:noFill/>
        </p:spPr>
        <p:txBody>
          <a:bodyPr wrap="square" anchor="t" lIns="0" rIns="0" tIns="0" bIns="0">
            <a:spAutoFit/>
          </a:bodyPr>
          <a:lstStyle/>
          <a:p>
            <a:pPr algn="ctr">
              <a:lnSpc>
                <a:spcPct val="100000"/>
              </a:lnSpc>
              <a:spcAft>
                <a:spcPts val="0"/>
              </a:spcAft>
            </a:pPr>
            <a:r>
              <a:rPr sz="1700" b="1" i="0">
                <a:solidFill>
                  <a:srgbClr val="1E2761"/>
                </a:solidFill>
                <a:latin typeface="Calibri"/>
              </a:rPr>
              <a:t>SERVER</a:t>
            </a:r>
          </a:p>
        </p:txBody>
      </p:sp>
      <p:sp>
        <p:nvSpPr>
          <p:cNvPr id="4" name="TextBox 3"/>
          <p:cNvSpPr txBox="1"/>
          <p:nvPr/>
        </p:nvSpPr>
        <p:spPr>
          <a:xfrm>
            <a:off x="7315200" y="1325880"/>
            <a:ext cx="4206240" cy="365760"/>
          </a:xfrm>
          <a:prstGeom prst="rect">
            <a:avLst/>
          </a:prstGeom>
          <a:noFill/>
        </p:spPr>
        <p:txBody>
          <a:bodyPr wrap="square" anchor="t" lIns="0" rIns="0" tIns="0" bIns="0">
            <a:spAutoFit/>
          </a:bodyPr>
          <a:lstStyle/>
          <a:p>
            <a:pPr algn="ctr">
              <a:lnSpc>
                <a:spcPct val="100000"/>
              </a:lnSpc>
              <a:spcAft>
                <a:spcPts val="0"/>
              </a:spcAft>
            </a:pPr>
            <a:r>
              <a:rPr sz="1700" b="1" i="0">
                <a:solidFill>
                  <a:srgbClr val="1E2761"/>
                </a:solidFill>
                <a:latin typeface="Calibri"/>
              </a:rPr>
              <a:t>CLIENT</a:t>
            </a:r>
          </a:p>
        </p:txBody>
      </p:sp>
      <p:sp>
        <p:nvSpPr>
          <p:cNvPr id="5" name="Rounded Rectangle 4"/>
          <p:cNvSpPr/>
          <p:nvPr/>
        </p:nvSpPr>
        <p:spPr>
          <a:xfrm>
            <a:off x="822960" y="1783080"/>
            <a:ext cx="4206240" cy="457200"/>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783080"/>
            <a:ext cx="4206240" cy="457200"/>
          </a:xfrm>
          <a:prstGeom prst="rect">
            <a:avLst/>
          </a:prstGeom>
          <a:noFill/>
        </p:spPr>
        <p:txBody>
          <a:bodyPr wrap="square" anchor="ctr" lIns="0" rIns="0" tIns="0" bIns="0">
            <a:spAutoFit/>
          </a:bodyPr>
          <a:lstStyle/>
          <a:p>
            <a:pPr algn="ctr">
              <a:lnSpc>
                <a:spcPct val="100000"/>
              </a:lnSpc>
              <a:spcAft>
                <a:spcPts val="0"/>
              </a:spcAft>
            </a:pPr>
            <a:r>
              <a:rPr sz="1250" b="1" i="0">
                <a:solidFill>
                  <a:srgbClr val="1E2761"/>
                </a:solidFill>
                <a:latin typeface="Courier New"/>
              </a:rPr>
              <a:t>WSAStartup()</a:t>
            </a:r>
          </a:p>
        </p:txBody>
      </p:sp>
      <p:sp>
        <p:nvSpPr>
          <p:cNvPr id="7" name="Rounded Rectangle 6"/>
          <p:cNvSpPr/>
          <p:nvPr/>
        </p:nvSpPr>
        <p:spPr>
          <a:xfrm>
            <a:off x="822960" y="2331720"/>
            <a:ext cx="4206240" cy="457200"/>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331720"/>
            <a:ext cx="4206240" cy="457200"/>
          </a:xfrm>
          <a:prstGeom prst="rect">
            <a:avLst/>
          </a:prstGeom>
          <a:noFill/>
        </p:spPr>
        <p:txBody>
          <a:bodyPr wrap="square" anchor="ctr" lIns="0" rIns="0" tIns="0" bIns="0">
            <a:spAutoFit/>
          </a:bodyPr>
          <a:lstStyle/>
          <a:p>
            <a:pPr algn="ctr">
              <a:lnSpc>
                <a:spcPct val="100000"/>
              </a:lnSpc>
              <a:spcAft>
                <a:spcPts val="0"/>
              </a:spcAft>
            </a:pPr>
            <a:r>
              <a:rPr sz="1250" b="1" i="0">
                <a:solidFill>
                  <a:srgbClr val="1E2761"/>
                </a:solidFill>
                <a:latin typeface="Courier New"/>
              </a:rPr>
              <a:t>socket()</a:t>
            </a:r>
          </a:p>
        </p:txBody>
      </p:sp>
      <p:sp>
        <p:nvSpPr>
          <p:cNvPr id="9" name="Rounded Rectangle 8"/>
          <p:cNvSpPr/>
          <p:nvPr/>
        </p:nvSpPr>
        <p:spPr>
          <a:xfrm>
            <a:off x="822960" y="2880360"/>
            <a:ext cx="4206240" cy="457200"/>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880360"/>
            <a:ext cx="4206240" cy="457200"/>
          </a:xfrm>
          <a:prstGeom prst="rect">
            <a:avLst/>
          </a:prstGeom>
          <a:noFill/>
        </p:spPr>
        <p:txBody>
          <a:bodyPr wrap="square" anchor="ctr" lIns="0" rIns="0" tIns="0" bIns="0">
            <a:spAutoFit/>
          </a:bodyPr>
          <a:lstStyle/>
          <a:p>
            <a:pPr algn="ctr">
              <a:lnSpc>
                <a:spcPct val="100000"/>
              </a:lnSpc>
              <a:spcAft>
                <a:spcPts val="0"/>
              </a:spcAft>
            </a:pPr>
            <a:r>
              <a:rPr sz="1250" b="1" i="0">
                <a:solidFill>
                  <a:srgbClr val="1E2761"/>
                </a:solidFill>
                <a:latin typeface="Courier New"/>
              </a:rPr>
              <a:t>bind()</a:t>
            </a:r>
          </a:p>
        </p:txBody>
      </p:sp>
      <p:sp>
        <p:nvSpPr>
          <p:cNvPr id="11" name="Rounded Rectangle 10"/>
          <p:cNvSpPr/>
          <p:nvPr/>
        </p:nvSpPr>
        <p:spPr>
          <a:xfrm>
            <a:off x="822960" y="3429000"/>
            <a:ext cx="4206240" cy="457200"/>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3429000"/>
            <a:ext cx="4206240" cy="457200"/>
          </a:xfrm>
          <a:prstGeom prst="rect">
            <a:avLst/>
          </a:prstGeom>
          <a:noFill/>
        </p:spPr>
        <p:txBody>
          <a:bodyPr wrap="square" anchor="ctr" lIns="0" rIns="0" tIns="0" bIns="0">
            <a:spAutoFit/>
          </a:bodyPr>
          <a:lstStyle/>
          <a:p>
            <a:pPr algn="ctr">
              <a:lnSpc>
                <a:spcPct val="100000"/>
              </a:lnSpc>
              <a:spcAft>
                <a:spcPts val="0"/>
              </a:spcAft>
            </a:pPr>
            <a:r>
              <a:rPr sz="1250" b="1" i="0">
                <a:solidFill>
                  <a:srgbClr val="1E2761"/>
                </a:solidFill>
                <a:latin typeface="Courier New"/>
              </a:rPr>
              <a:t>listen()</a:t>
            </a:r>
          </a:p>
        </p:txBody>
      </p:sp>
      <p:sp>
        <p:nvSpPr>
          <p:cNvPr id="13" name="Rounded Rectangle 12"/>
          <p:cNvSpPr/>
          <p:nvPr/>
        </p:nvSpPr>
        <p:spPr>
          <a:xfrm>
            <a:off x="822960" y="3977639"/>
            <a:ext cx="4206240" cy="457200"/>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977639"/>
            <a:ext cx="4206240" cy="457200"/>
          </a:xfrm>
          <a:prstGeom prst="rect">
            <a:avLst/>
          </a:prstGeom>
          <a:noFill/>
        </p:spPr>
        <p:txBody>
          <a:bodyPr wrap="square" anchor="ctr" lIns="0" rIns="0" tIns="0" bIns="0">
            <a:spAutoFit/>
          </a:bodyPr>
          <a:lstStyle/>
          <a:p>
            <a:pPr algn="ctr">
              <a:lnSpc>
                <a:spcPct val="100000"/>
              </a:lnSpc>
              <a:spcAft>
                <a:spcPts val="0"/>
              </a:spcAft>
            </a:pPr>
            <a:r>
              <a:rPr sz="1250" b="1" i="0">
                <a:solidFill>
                  <a:srgbClr val="1E2761"/>
                </a:solidFill>
                <a:latin typeface="Courier New"/>
              </a:rPr>
              <a:t>accept()</a:t>
            </a:r>
          </a:p>
        </p:txBody>
      </p:sp>
      <p:sp>
        <p:nvSpPr>
          <p:cNvPr id="15" name="Rounded Rectangle 14"/>
          <p:cNvSpPr/>
          <p:nvPr/>
        </p:nvSpPr>
        <p:spPr>
          <a:xfrm>
            <a:off x="822960" y="4526279"/>
            <a:ext cx="4206240" cy="457200"/>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526279"/>
            <a:ext cx="4206240" cy="457200"/>
          </a:xfrm>
          <a:prstGeom prst="rect">
            <a:avLst/>
          </a:prstGeom>
          <a:noFill/>
        </p:spPr>
        <p:txBody>
          <a:bodyPr wrap="square" anchor="ctr" lIns="0" rIns="0" tIns="0" bIns="0">
            <a:spAutoFit/>
          </a:bodyPr>
          <a:lstStyle/>
          <a:p>
            <a:pPr algn="ctr">
              <a:lnSpc>
                <a:spcPct val="100000"/>
              </a:lnSpc>
              <a:spcAft>
                <a:spcPts val="0"/>
              </a:spcAft>
            </a:pPr>
            <a:r>
              <a:rPr sz="1250" b="1" i="0">
                <a:solidFill>
                  <a:srgbClr val="1E2761"/>
                </a:solidFill>
                <a:latin typeface="Courier New"/>
              </a:rPr>
              <a:t>recv() / send() – Loop</a:t>
            </a:r>
          </a:p>
        </p:txBody>
      </p:sp>
      <p:sp>
        <p:nvSpPr>
          <p:cNvPr id="17" name="Rounded Rectangle 16"/>
          <p:cNvSpPr/>
          <p:nvPr/>
        </p:nvSpPr>
        <p:spPr>
          <a:xfrm>
            <a:off x="822960" y="5074919"/>
            <a:ext cx="4206240" cy="457200"/>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5074919"/>
            <a:ext cx="4206240" cy="457200"/>
          </a:xfrm>
          <a:prstGeom prst="rect">
            <a:avLst/>
          </a:prstGeom>
          <a:noFill/>
        </p:spPr>
        <p:txBody>
          <a:bodyPr wrap="square" anchor="ctr" lIns="0" rIns="0" tIns="0" bIns="0">
            <a:spAutoFit/>
          </a:bodyPr>
          <a:lstStyle/>
          <a:p>
            <a:pPr algn="ctr">
              <a:lnSpc>
                <a:spcPct val="100000"/>
              </a:lnSpc>
              <a:spcAft>
                <a:spcPts val="0"/>
              </a:spcAft>
            </a:pPr>
            <a:r>
              <a:rPr sz="1250" b="1" i="0">
                <a:solidFill>
                  <a:srgbClr val="1E2761"/>
                </a:solidFill>
                <a:latin typeface="Courier New"/>
              </a:rPr>
              <a:t>closesocket() + WSACleanup()</a:t>
            </a:r>
          </a:p>
        </p:txBody>
      </p:sp>
      <p:sp>
        <p:nvSpPr>
          <p:cNvPr id="19" name="Rounded Rectangle 18"/>
          <p:cNvSpPr/>
          <p:nvPr/>
        </p:nvSpPr>
        <p:spPr>
          <a:xfrm>
            <a:off x="7315200" y="1783080"/>
            <a:ext cx="4206240" cy="457200"/>
          </a:xfrm>
          <a:prstGeom prst="roundRect">
            <a:avLst>
              <a:gd name="adj" fmla="val 18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0" y="1783080"/>
            <a:ext cx="4206240" cy="457200"/>
          </a:xfrm>
          <a:prstGeom prst="rect">
            <a:avLst/>
          </a:prstGeom>
          <a:noFill/>
        </p:spPr>
        <p:txBody>
          <a:bodyPr wrap="square" anchor="ctr" lIns="0" rIns="0" tIns="0" bIns="0">
            <a:spAutoFit/>
          </a:bodyPr>
          <a:lstStyle/>
          <a:p>
            <a:pPr algn="ctr">
              <a:lnSpc>
                <a:spcPct val="100000"/>
              </a:lnSpc>
              <a:spcAft>
                <a:spcPts val="0"/>
              </a:spcAft>
            </a:pPr>
            <a:r>
              <a:rPr sz="1250" b="1" i="0">
                <a:solidFill>
                  <a:srgbClr val="1E2761"/>
                </a:solidFill>
                <a:latin typeface="Courier New"/>
              </a:rPr>
              <a:t>WSAStartup()</a:t>
            </a:r>
          </a:p>
        </p:txBody>
      </p:sp>
      <p:sp>
        <p:nvSpPr>
          <p:cNvPr id="21" name="Rounded Rectangle 20"/>
          <p:cNvSpPr/>
          <p:nvPr/>
        </p:nvSpPr>
        <p:spPr>
          <a:xfrm>
            <a:off x="7315200" y="2331720"/>
            <a:ext cx="4206240" cy="457200"/>
          </a:xfrm>
          <a:prstGeom prst="roundRect">
            <a:avLst>
              <a:gd name="adj" fmla="val 18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0" y="2331720"/>
            <a:ext cx="4206240" cy="457200"/>
          </a:xfrm>
          <a:prstGeom prst="rect">
            <a:avLst/>
          </a:prstGeom>
          <a:noFill/>
        </p:spPr>
        <p:txBody>
          <a:bodyPr wrap="square" anchor="ctr" lIns="0" rIns="0" tIns="0" bIns="0">
            <a:spAutoFit/>
          </a:bodyPr>
          <a:lstStyle/>
          <a:p>
            <a:pPr algn="ctr">
              <a:lnSpc>
                <a:spcPct val="100000"/>
              </a:lnSpc>
              <a:spcAft>
                <a:spcPts val="0"/>
              </a:spcAft>
            </a:pPr>
            <a:r>
              <a:rPr sz="1250" b="1" i="0">
                <a:solidFill>
                  <a:srgbClr val="1E2761"/>
                </a:solidFill>
                <a:latin typeface="Courier New"/>
              </a:rPr>
              <a:t>socket()</a:t>
            </a:r>
          </a:p>
        </p:txBody>
      </p:sp>
      <p:sp>
        <p:nvSpPr>
          <p:cNvPr id="23" name="Rounded Rectangle 22"/>
          <p:cNvSpPr/>
          <p:nvPr/>
        </p:nvSpPr>
        <p:spPr>
          <a:xfrm>
            <a:off x="7315200" y="2880360"/>
            <a:ext cx="4206240" cy="457200"/>
          </a:xfrm>
          <a:prstGeom prst="roundRect">
            <a:avLst>
              <a:gd name="adj" fmla="val 18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0" y="2880360"/>
            <a:ext cx="4206240" cy="457200"/>
          </a:xfrm>
          <a:prstGeom prst="rect">
            <a:avLst/>
          </a:prstGeom>
          <a:noFill/>
        </p:spPr>
        <p:txBody>
          <a:bodyPr wrap="square" anchor="ctr" lIns="0" rIns="0" tIns="0" bIns="0">
            <a:spAutoFit/>
          </a:bodyPr>
          <a:lstStyle/>
          <a:p>
            <a:pPr algn="ctr">
              <a:lnSpc>
                <a:spcPct val="100000"/>
              </a:lnSpc>
              <a:spcAft>
                <a:spcPts val="0"/>
              </a:spcAft>
            </a:pPr>
            <a:r>
              <a:rPr sz="1250" b="1" i="0">
                <a:solidFill>
                  <a:srgbClr val="1E2761"/>
                </a:solidFill>
                <a:latin typeface="Courier New"/>
              </a:rPr>
              <a:t>connect()</a:t>
            </a:r>
          </a:p>
        </p:txBody>
      </p:sp>
      <p:sp>
        <p:nvSpPr>
          <p:cNvPr id="25" name="Rounded Rectangle 24"/>
          <p:cNvSpPr/>
          <p:nvPr/>
        </p:nvSpPr>
        <p:spPr>
          <a:xfrm>
            <a:off x="7315200" y="4526279"/>
            <a:ext cx="4206240" cy="457200"/>
          </a:xfrm>
          <a:prstGeom prst="roundRect">
            <a:avLst>
              <a:gd name="adj" fmla="val 18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0" y="4526279"/>
            <a:ext cx="4206240" cy="457200"/>
          </a:xfrm>
          <a:prstGeom prst="rect">
            <a:avLst/>
          </a:prstGeom>
          <a:noFill/>
        </p:spPr>
        <p:txBody>
          <a:bodyPr wrap="square" anchor="ctr" lIns="0" rIns="0" tIns="0" bIns="0">
            <a:spAutoFit/>
          </a:bodyPr>
          <a:lstStyle/>
          <a:p>
            <a:pPr algn="ctr">
              <a:lnSpc>
                <a:spcPct val="100000"/>
              </a:lnSpc>
              <a:spcAft>
                <a:spcPts val="0"/>
              </a:spcAft>
            </a:pPr>
            <a:r>
              <a:rPr sz="1250" b="1" i="0">
                <a:solidFill>
                  <a:srgbClr val="1E2761"/>
                </a:solidFill>
                <a:latin typeface="Courier New"/>
              </a:rPr>
              <a:t>send() / recv() – Loop</a:t>
            </a:r>
          </a:p>
        </p:txBody>
      </p:sp>
      <p:sp>
        <p:nvSpPr>
          <p:cNvPr id="27" name="Rounded Rectangle 26"/>
          <p:cNvSpPr/>
          <p:nvPr/>
        </p:nvSpPr>
        <p:spPr>
          <a:xfrm>
            <a:off x="7315200" y="5074919"/>
            <a:ext cx="4206240" cy="457200"/>
          </a:xfrm>
          <a:prstGeom prst="roundRect">
            <a:avLst>
              <a:gd name="adj" fmla="val 18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15200" y="5074919"/>
            <a:ext cx="4206240" cy="457200"/>
          </a:xfrm>
          <a:prstGeom prst="rect">
            <a:avLst/>
          </a:prstGeom>
          <a:noFill/>
        </p:spPr>
        <p:txBody>
          <a:bodyPr wrap="square" anchor="ctr" lIns="0" rIns="0" tIns="0" bIns="0">
            <a:spAutoFit/>
          </a:bodyPr>
          <a:lstStyle/>
          <a:p>
            <a:pPr algn="ctr">
              <a:lnSpc>
                <a:spcPct val="100000"/>
              </a:lnSpc>
              <a:spcAft>
                <a:spcPts val="0"/>
              </a:spcAft>
            </a:pPr>
            <a:r>
              <a:rPr sz="1250" b="1" i="0">
                <a:solidFill>
                  <a:srgbClr val="1E2761"/>
                </a:solidFill>
                <a:latin typeface="Courier New"/>
              </a:rPr>
              <a:t>closesocket() + WSACleanup()</a:t>
            </a:r>
          </a:p>
        </p:txBody>
      </p:sp>
      <p:cxnSp>
        <p:nvCxnSpPr>
          <p:cNvPr id="29" name="Connector 28"/>
          <p:cNvCxnSpPr/>
          <p:nvPr/>
        </p:nvCxnSpPr>
        <p:spPr>
          <a:xfrm flipV="1">
            <a:off x="5120640" y="3931920"/>
            <a:ext cx="0" cy="274320"/>
          </a:xfrm>
          <a:prstGeom prst="line">
            <a:avLst/>
          </a:prstGeom>
          <a:ln w="28575">
            <a:solidFill>
              <a:srgbClr val="00B4D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7223760" y="3108960"/>
            <a:ext cx="0" cy="822960"/>
          </a:xfrm>
          <a:prstGeom prst="line">
            <a:avLst/>
          </a:prstGeom>
          <a:ln w="28575">
            <a:solidFill>
              <a:srgbClr val="00B4D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120640" y="3931920"/>
            <a:ext cx="2103120" cy="0"/>
          </a:xfrm>
          <a:prstGeom prst="line">
            <a:avLst/>
          </a:prstGeom>
          <a:ln w="28575">
            <a:solidFill>
              <a:srgbClr val="00B4D8"/>
            </a:solidFill>
            <a:prstDash val="dash"/>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120640" y="3383280"/>
            <a:ext cx="2103120" cy="457200"/>
          </a:xfrm>
          <a:prstGeom prst="rect">
            <a:avLst/>
          </a:prstGeom>
          <a:noFill/>
        </p:spPr>
        <p:txBody>
          <a:bodyPr wrap="square" anchor="ctr" lIns="0" rIns="0" tIns="0" bIns="0">
            <a:spAutoFit/>
          </a:bodyPr>
          <a:lstStyle/>
          <a:p>
            <a:pPr algn="ctr">
              <a:lnSpc>
                <a:spcPct val="100000"/>
              </a:lnSpc>
              <a:spcAft>
                <a:spcPts val="0"/>
              </a:spcAft>
            </a:pPr>
            <a:r>
              <a:rPr sz="1100" b="1" i="0">
                <a:solidFill>
                  <a:srgbClr val="00B4D8"/>
                </a:solidFill>
                <a:latin typeface="Calibri"/>
              </a:rPr>
              <a:t>TCP-Verbindung</a:t>
            </a:r>
          </a:p>
          <a:p>
            <a:pPr algn="ctr">
              <a:lnSpc>
                <a:spcPct val="100000"/>
              </a:lnSpc>
              <a:spcAft>
                <a:spcPts val="0"/>
              </a:spcAft>
            </a:pPr>
            <a:r>
              <a:rPr sz="1100" b="1" i="0">
                <a:solidFill>
                  <a:srgbClr val="00B4D8"/>
                </a:solidFill>
                <a:latin typeface="Calibri"/>
              </a:rPr>
              <a:t>Port 9000</a:t>
            </a:r>
          </a:p>
        </p:txBody>
      </p:sp>
      <p:sp>
        <p:nvSpPr>
          <p:cNvPr id="33" name="TextBox 32"/>
          <p:cNvSpPr txBox="1"/>
          <p:nvPr/>
        </p:nvSpPr>
        <p:spPr>
          <a:xfrm>
            <a:off x="640080" y="6473952"/>
            <a:ext cx="7315200" cy="274320"/>
          </a:xfrm>
          <a:prstGeom prst="rect">
            <a:avLst/>
          </a:prstGeom>
          <a:noFill/>
        </p:spPr>
        <p:txBody>
          <a:bodyPr wrap="square" anchor="t" lIns="0" rIns="0" tIns="0" bIns="0">
            <a:spAutoFit/>
          </a:bodyPr>
          <a:lstStyle/>
          <a:p>
            <a:pPr algn="l">
              <a:lnSpc>
                <a:spcPct val="100000"/>
              </a:lnSpc>
              <a:spcAft>
                <a:spcPts val="0"/>
              </a:spcAft>
            </a:pPr>
            <a:r>
              <a:rPr sz="1000" b="0" i="0">
                <a:solidFill>
                  <a:srgbClr val="5A6B7B"/>
                </a:solidFill>
                <a:latin typeface="Calibri"/>
              </a:rPr>
              <a:t>TCP Chat-Server in C++  ·  Fachprüfungsprojekt</a:t>
            </a:r>
          </a:p>
        </p:txBody>
      </p:sp>
      <p:sp>
        <p:nvSpPr>
          <p:cNvPr id="34" name="TextBox 33"/>
          <p:cNvSpPr txBox="1"/>
          <p:nvPr/>
        </p:nvSpPr>
        <p:spPr>
          <a:xfrm>
            <a:off x="11064240" y="6473952"/>
            <a:ext cx="548640" cy="274320"/>
          </a:xfrm>
          <a:prstGeom prst="rect">
            <a:avLst/>
          </a:prstGeom>
          <a:noFill/>
        </p:spPr>
        <p:txBody>
          <a:bodyPr wrap="square" anchor="t" lIns="0" rIns="0" tIns="0" bIns="0">
            <a:spAutoFit/>
          </a:bodyPr>
          <a:lstStyle/>
          <a:p>
            <a:pPr algn="r">
              <a:lnSpc>
                <a:spcPct val="100000"/>
              </a:lnSpc>
              <a:spcAft>
                <a:spcPts val="0"/>
              </a:spcAft>
            </a:pPr>
            <a:r>
              <a:rPr sz="1000" b="0" i="0">
                <a:solidFill>
                  <a:srgbClr val="5A6B7B"/>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TextBox 1"/>
          <p:cNvSpPr txBox="1"/>
          <p:nvPr/>
        </p:nvSpPr>
        <p:spPr>
          <a:xfrm>
            <a:off x="640080" y="457200"/>
            <a:ext cx="10881360" cy="822960"/>
          </a:xfrm>
          <a:prstGeom prst="rect">
            <a:avLst/>
          </a:prstGeom>
          <a:noFill/>
        </p:spPr>
        <p:txBody>
          <a:bodyPr wrap="square" anchor="t" lIns="0" rIns="0" tIns="0" bIns="0">
            <a:spAutoFit/>
          </a:bodyPr>
          <a:lstStyle/>
          <a:p>
            <a:pPr algn="l">
              <a:lnSpc>
                <a:spcPct val="100000"/>
              </a:lnSpc>
              <a:spcAft>
                <a:spcPts val="0"/>
              </a:spcAft>
            </a:pPr>
            <a:r>
              <a:rPr sz="3200" b="1" i="0">
                <a:solidFill>
                  <a:srgbClr val="1E2761"/>
                </a:solidFill>
                <a:latin typeface="Cambria"/>
              </a:rPr>
              <a:t>Code-Ausschnitt: Server – Verbindung aufbauen</a:t>
            </a:r>
          </a:p>
        </p:txBody>
      </p:sp>
      <p:sp>
        <p:nvSpPr>
          <p:cNvPr id="3" name="Rounded Rectangle 2"/>
          <p:cNvSpPr/>
          <p:nvPr/>
        </p:nvSpPr>
        <p:spPr>
          <a:xfrm>
            <a:off x="640080" y="1554480"/>
            <a:ext cx="6583680" cy="4023360"/>
          </a:xfrm>
          <a:prstGeom prst="roundRect">
            <a:avLst>
              <a:gd name="adj" fmla="val 4500"/>
            </a:avLst>
          </a:prstGeom>
          <a:solidFill>
            <a:srgbClr val="161C4A"/>
          </a:solidFill>
          <a:ln>
            <a:noFill/>
          </a:ln>
          <a:effectLst/>
          <a:effectLst>
            <a:outerShdw blurRad="90000" dist="25000" dir="5400000"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74320" rIns="228600" tIns="228600" bIns="228600"/>
          <a:lstStyle/>
          <a:p>
            <a:pPr algn="ctr">
              <a:lnSpc>
                <a:spcPct val="125000"/>
              </a:lnSpc>
            </a:pPr>
            <a:r>
              <a:rPr sz="1550">
                <a:solidFill>
                  <a:srgbClr val="CADCFC"/>
                </a:solidFill>
                <a:latin typeface="Courier New"/>
              </a:rPr>
              <a:t>SOCKET serverSocket = socket(</a:t>
            </a:r>
          </a:p>
          <a:p>
            <a:pPr>
              <a:lnSpc>
                <a:spcPct val="125000"/>
              </a:lnSpc>
            </a:pPr>
            <a:r>
              <a:rPr sz="1550">
                <a:solidFill>
                  <a:srgbClr val="CADCFC"/>
                </a:solidFill>
                <a:latin typeface="Courier New"/>
              </a:rPr>
              <a:t>    AF_INET, SOCK_STREAM, IPPROTO_TCP);</a:t>
            </a:r>
          </a:p>
          <a:p>
            <a:pPr>
              <a:lnSpc>
                <a:spcPct val="125000"/>
              </a:lnSpc>
            </a:pPr>
            <a:r>
              <a:rPr sz="1550">
                <a:solidFill>
                  <a:srgbClr val="CADCFC"/>
                </a:solidFill>
                <a:latin typeface="Courier New"/>
              </a:rPr>
              <a:t> </a:t>
            </a:r>
          </a:p>
          <a:p>
            <a:pPr>
              <a:lnSpc>
                <a:spcPct val="125000"/>
              </a:lnSpc>
            </a:pPr>
            <a:r>
              <a:rPr sz="1550">
                <a:solidFill>
                  <a:srgbClr val="CADCFC"/>
                </a:solidFill>
                <a:latin typeface="Courier New"/>
              </a:rPr>
              <a:t>bind(serverSocket,</a:t>
            </a:r>
          </a:p>
          <a:p>
            <a:pPr>
              <a:lnSpc>
                <a:spcPct val="125000"/>
              </a:lnSpc>
            </a:pPr>
            <a:r>
              <a:rPr sz="1550">
                <a:solidFill>
                  <a:srgbClr val="CADCFC"/>
                </a:solidFill>
                <a:latin typeface="Courier New"/>
              </a:rPr>
              <a:t>     (sockaddr*)&amp;serverAddr,</a:t>
            </a:r>
          </a:p>
          <a:p>
            <a:pPr>
              <a:lnSpc>
                <a:spcPct val="125000"/>
              </a:lnSpc>
            </a:pPr>
            <a:r>
              <a:rPr sz="1550">
                <a:solidFill>
                  <a:srgbClr val="CADCFC"/>
                </a:solidFill>
                <a:latin typeface="Courier New"/>
              </a:rPr>
              <a:t>     sizeof(serverAddr));</a:t>
            </a:r>
          </a:p>
          <a:p>
            <a:pPr>
              <a:lnSpc>
                <a:spcPct val="125000"/>
              </a:lnSpc>
            </a:pPr>
            <a:r>
              <a:rPr sz="1550">
                <a:solidFill>
                  <a:srgbClr val="CADCFC"/>
                </a:solidFill>
                <a:latin typeface="Courier New"/>
              </a:rPr>
              <a:t> </a:t>
            </a:r>
          </a:p>
          <a:p>
            <a:pPr>
              <a:lnSpc>
                <a:spcPct val="125000"/>
              </a:lnSpc>
            </a:pPr>
            <a:r>
              <a:rPr sz="1550">
                <a:solidFill>
                  <a:srgbClr val="CADCFC"/>
                </a:solidFill>
                <a:latin typeface="Courier New"/>
              </a:rPr>
              <a:t>listen(serverSocket, 1);</a:t>
            </a:r>
          </a:p>
          <a:p>
            <a:pPr>
              <a:lnSpc>
                <a:spcPct val="125000"/>
              </a:lnSpc>
            </a:pPr>
            <a:r>
              <a:rPr sz="1550">
                <a:solidFill>
                  <a:srgbClr val="CADCFC"/>
                </a:solidFill>
                <a:latin typeface="Courier New"/>
              </a:rPr>
              <a:t> </a:t>
            </a:r>
          </a:p>
          <a:p>
            <a:pPr>
              <a:lnSpc>
                <a:spcPct val="125000"/>
              </a:lnSpc>
            </a:pPr>
            <a:r>
              <a:rPr sz="1550">
                <a:solidFill>
                  <a:srgbClr val="CADCFC"/>
                </a:solidFill>
                <a:latin typeface="Courier New"/>
              </a:rPr>
              <a:t>SOCKET clientSocket =</a:t>
            </a:r>
          </a:p>
          <a:p>
            <a:pPr>
              <a:lnSpc>
                <a:spcPct val="125000"/>
              </a:lnSpc>
            </a:pPr>
            <a:r>
              <a:rPr sz="1550">
                <a:solidFill>
                  <a:srgbClr val="CADCFC"/>
                </a:solidFill>
                <a:latin typeface="Courier New"/>
              </a:rPr>
              <a:t>    accept(serverSocket, nullptr, nullptr);</a:t>
            </a:r>
          </a:p>
        </p:txBody>
      </p:sp>
      <p:sp>
        <p:nvSpPr>
          <p:cNvPr id="4" name="TextBox 3"/>
          <p:cNvSpPr txBox="1"/>
          <p:nvPr/>
        </p:nvSpPr>
        <p:spPr>
          <a:xfrm>
            <a:off x="7498079" y="1737360"/>
            <a:ext cx="4023360" cy="3840480"/>
          </a:xfrm>
          <a:prstGeom prst="rect">
            <a:avLst/>
          </a:prstGeom>
          <a:noFill/>
        </p:spPr>
        <p:txBody>
          <a:bodyPr wrap="square" lIns="0" rIns="0" tIns="0" bIns="0">
            <a:spAutoFit/>
          </a:bodyPr>
          <a:lstStyle/>
          <a:p>
            <a:pPr indent="-201168" marL="201168">
              <a:lnSpc>
                <a:spcPct val="105000"/>
              </a:lnSpc>
              <a:spcAft>
                <a:spcPts val="1400"/>
              </a:spcAft>
              <a:buFont typeface="Calibri"/>
              <a:buChar char="–"/>
            </a:pPr>
            <a:r>
              <a:rPr sz="1450">
                <a:solidFill>
                  <a:srgbClr val="2B2B2B"/>
                </a:solidFill>
                <a:latin typeface="Calibri"/>
              </a:rPr>
              <a:t>socket() erstellt einen TCP-Socket (IPv4)</a:t>
            </a:r>
          </a:p>
          <a:p>
            <a:pPr indent="-201168" marL="201168">
              <a:lnSpc>
                <a:spcPct val="105000"/>
              </a:lnSpc>
              <a:spcAft>
                <a:spcPts val="1400"/>
              </a:spcAft>
              <a:buFont typeface="Calibri"/>
              <a:buChar char="–"/>
            </a:pPr>
            <a:r>
              <a:rPr sz="1450">
                <a:solidFill>
                  <a:srgbClr val="2B2B2B"/>
                </a:solidFill>
                <a:latin typeface="Calibri"/>
              </a:rPr>
              <a:t>bind() verknüpft ihn mit Port 9000</a:t>
            </a:r>
          </a:p>
          <a:p>
            <a:pPr indent="-201168" marL="201168">
              <a:lnSpc>
                <a:spcPct val="105000"/>
              </a:lnSpc>
              <a:spcAft>
                <a:spcPts val="1400"/>
              </a:spcAft>
              <a:buFont typeface="Calibri"/>
              <a:buChar char="–"/>
            </a:pPr>
            <a:r>
              <a:rPr sz="1450">
                <a:solidFill>
                  <a:srgbClr val="2B2B2B"/>
                </a:solidFill>
                <a:latin typeface="Calibri"/>
              </a:rPr>
              <a:t>listen() öffnet die Warteschlange für Verbindungen</a:t>
            </a:r>
          </a:p>
          <a:p>
            <a:pPr indent="-201168" marL="201168">
              <a:lnSpc>
                <a:spcPct val="105000"/>
              </a:lnSpc>
              <a:spcAft>
                <a:spcPts val="1400"/>
              </a:spcAft>
              <a:buFont typeface="Calibri"/>
              <a:buChar char="–"/>
            </a:pPr>
            <a:r>
              <a:rPr sz="1450">
                <a:solidFill>
                  <a:srgbClr val="2B2B2B"/>
                </a:solidFill>
                <a:latin typeface="Calibri"/>
              </a:rPr>
              <a:t>accept() blockiert, bis sich ein Client verbindet</a:t>
            </a:r>
          </a:p>
        </p:txBody>
      </p:sp>
      <p:sp>
        <p:nvSpPr>
          <p:cNvPr id="5" name="TextBox 4"/>
          <p:cNvSpPr txBox="1"/>
          <p:nvPr/>
        </p:nvSpPr>
        <p:spPr>
          <a:xfrm>
            <a:off x="640080" y="6473952"/>
            <a:ext cx="7315200" cy="274320"/>
          </a:xfrm>
          <a:prstGeom prst="rect">
            <a:avLst/>
          </a:prstGeom>
          <a:noFill/>
        </p:spPr>
        <p:txBody>
          <a:bodyPr wrap="square" anchor="t" lIns="0" rIns="0" tIns="0" bIns="0">
            <a:spAutoFit/>
          </a:bodyPr>
          <a:lstStyle/>
          <a:p>
            <a:pPr algn="l">
              <a:lnSpc>
                <a:spcPct val="100000"/>
              </a:lnSpc>
              <a:spcAft>
                <a:spcPts val="0"/>
              </a:spcAft>
            </a:pPr>
            <a:r>
              <a:rPr sz="1000" b="0" i="0">
                <a:solidFill>
                  <a:srgbClr val="5A6B7B"/>
                </a:solidFill>
                <a:latin typeface="Calibri"/>
              </a:rPr>
              <a:t>TCP Chat-Server in C++  ·  Fachprüfungsprojekt</a:t>
            </a:r>
          </a:p>
        </p:txBody>
      </p:sp>
      <p:sp>
        <p:nvSpPr>
          <p:cNvPr id="6" name="TextBox 5"/>
          <p:cNvSpPr txBox="1"/>
          <p:nvPr/>
        </p:nvSpPr>
        <p:spPr>
          <a:xfrm>
            <a:off x="11064240" y="6473952"/>
            <a:ext cx="548640" cy="274320"/>
          </a:xfrm>
          <a:prstGeom prst="rect">
            <a:avLst/>
          </a:prstGeom>
          <a:noFill/>
        </p:spPr>
        <p:txBody>
          <a:bodyPr wrap="square" anchor="t" lIns="0" rIns="0" tIns="0" bIns="0">
            <a:spAutoFit/>
          </a:bodyPr>
          <a:lstStyle/>
          <a:p>
            <a:pPr algn="r">
              <a:lnSpc>
                <a:spcPct val="100000"/>
              </a:lnSpc>
              <a:spcAft>
                <a:spcPts val="0"/>
              </a:spcAft>
            </a:pPr>
            <a:r>
              <a:rPr sz="1000" b="0" i="0">
                <a:solidFill>
                  <a:srgbClr val="5A6B7B"/>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TextBox 1"/>
          <p:cNvSpPr txBox="1"/>
          <p:nvPr/>
        </p:nvSpPr>
        <p:spPr>
          <a:xfrm>
            <a:off x="640080" y="457200"/>
            <a:ext cx="10881360" cy="822960"/>
          </a:xfrm>
          <a:prstGeom prst="rect">
            <a:avLst/>
          </a:prstGeom>
          <a:noFill/>
        </p:spPr>
        <p:txBody>
          <a:bodyPr wrap="square" anchor="t" lIns="0" rIns="0" tIns="0" bIns="0">
            <a:spAutoFit/>
          </a:bodyPr>
          <a:lstStyle/>
          <a:p>
            <a:pPr algn="l">
              <a:lnSpc>
                <a:spcPct val="100000"/>
              </a:lnSpc>
              <a:spcAft>
                <a:spcPts val="0"/>
              </a:spcAft>
            </a:pPr>
            <a:r>
              <a:rPr sz="3200" b="1" i="0">
                <a:solidFill>
                  <a:srgbClr val="1E2761"/>
                </a:solidFill>
                <a:latin typeface="Cambria"/>
              </a:rPr>
              <a:t>Code-Ausschnitt: Client – Verbindung aufbauen</a:t>
            </a:r>
          </a:p>
        </p:txBody>
      </p:sp>
      <p:sp>
        <p:nvSpPr>
          <p:cNvPr id="3" name="Rounded Rectangle 2"/>
          <p:cNvSpPr/>
          <p:nvPr/>
        </p:nvSpPr>
        <p:spPr>
          <a:xfrm>
            <a:off x="640080" y="1554480"/>
            <a:ext cx="6583680" cy="4023360"/>
          </a:xfrm>
          <a:prstGeom prst="roundRect">
            <a:avLst>
              <a:gd name="adj" fmla="val 4500"/>
            </a:avLst>
          </a:prstGeom>
          <a:solidFill>
            <a:srgbClr val="161C4A"/>
          </a:solidFill>
          <a:ln>
            <a:noFill/>
          </a:ln>
          <a:effectLst/>
          <a:effectLst>
            <a:outerShdw blurRad="90000" dist="25000" dir="5400000"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74320" rIns="228600" tIns="228600" bIns="228600"/>
          <a:lstStyle/>
          <a:p>
            <a:pPr algn="ctr">
              <a:lnSpc>
                <a:spcPct val="125000"/>
              </a:lnSpc>
            </a:pPr>
            <a:r>
              <a:rPr sz="1550">
                <a:solidFill>
                  <a:srgbClr val="CADCFC"/>
                </a:solidFill>
                <a:latin typeface="Courier New"/>
              </a:rPr>
              <a:t>SOCKET clientSocket = socket(</a:t>
            </a:r>
          </a:p>
          <a:p>
            <a:pPr>
              <a:lnSpc>
                <a:spcPct val="125000"/>
              </a:lnSpc>
            </a:pPr>
            <a:r>
              <a:rPr sz="1550">
                <a:solidFill>
                  <a:srgbClr val="CADCFC"/>
                </a:solidFill>
                <a:latin typeface="Courier New"/>
              </a:rPr>
              <a:t>    AF_INET, SOCK_STREAM, IPPROTO_TCP);</a:t>
            </a:r>
          </a:p>
          <a:p>
            <a:pPr>
              <a:lnSpc>
                <a:spcPct val="125000"/>
              </a:lnSpc>
            </a:pPr>
            <a:r>
              <a:rPr sz="1550">
                <a:solidFill>
                  <a:srgbClr val="CADCFC"/>
                </a:solidFill>
                <a:latin typeface="Courier New"/>
              </a:rPr>
              <a:t> </a:t>
            </a:r>
          </a:p>
          <a:p>
            <a:pPr>
              <a:lnSpc>
                <a:spcPct val="125000"/>
              </a:lnSpc>
            </a:pPr>
            <a:r>
              <a:rPr sz="1550">
                <a:solidFill>
                  <a:srgbClr val="CADCFC"/>
                </a:solidFill>
                <a:latin typeface="Courier New"/>
              </a:rPr>
              <a:t>inet_pton(AF_INET, SERVER_IP,</a:t>
            </a:r>
          </a:p>
          <a:p>
            <a:pPr>
              <a:lnSpc>
                <a:spcPct val="125000"/>
              </a:lnSpc>
            </a:pPr>
            <a:r>
              <a:rPr sz="1550">
                <a:solidFill>
                  <a:srgbClr val="CADCFC"/>
                </a:solidFill>
                <a:latin typeface="Courier New"/>
              </a:rPr>
              <a:t>          &amp;serverAddr.sin_addr);</a:t>
            </a:r>
          </a:p>
          <a:p>
            <a:pPr>
              <a:lnSpc>
                <a:spcPct val="125000"/>
              </a:lnSpc>
            </a:pPr>
            <a:r>
              <a:rPr sz="1550">
                <a:solidFill>
                  <a:srgbClr val="CADCFC"/>
                </a:solidFill>
                <a:latin typeface="Courier New"/>
              </a:rPr>
              <a:t> </a:t>
            </a:r>
          </a:p>
          <a:p>
            <a:pPr>
              <a:lnSpc>
                <a:spcPct val="125000"/>
              </a:lnSpc>
            </a:pPr>
            <a:r>
              <a:rPr sz="1550">
                <a:solidFill>
                  <a:srgbClr val="CADCFC"/>
                </a:solidFill>
                <a:latin typeface="Courier New"/>
              </a:rPr>
              <a:t>connect(clientSocket,</a:t>
            </a:r>
          </a:p>
          <a:p>
            <a:pPr>
              <a:lnSpc>
                <a:spcPct val="125000"/>
              </a:lnSpc>
            </a:pPr>
            <a:r>
              <a:rPr sz="1550">
                <a:solidFill>
                  <a:srgbClr val="CADCFC"/>
                </a:solidFill>
                <a:latin typeface="Courier New"/>
              </a:rPr>
              <a:t>        (sockaddr*)&amp;serverAddr,</a:t>
            </a:r>
          </a:p>
          <a:p>
            <a:pPr>
              <a:lnSpc>
                <a:spcPct val="125000"/>
              </a:lnSpc>
            </a:pPr>
            <a:r>
              <a:rPr sz="1550">
                <a:solidFill>
                  <a:srgbClr val="CADCFC"/>
                </a:solidFill>
                <a:latin typeface="Courier New"/>
              </a:rPr>
              <a:t>        sizeof(serverAddr));</a:t>
            </a:r>
          </a:p>
        </p:txBody>
      </p:sp>
      <p:sp>
        <p:nvSpPr>
          <p:cNvPr id="4" name="TextBox 3"/>
          <p:cNvSpPr txBox="1"/>
          <p:nvPr/>
        </p:nvSpPr>
        <p:spPr>
          <a:xfrm>
            <a:off x="7498079" y="1737360"/>
            <a:ext cx="4023360" cy="3840480"/>
          </a:xfrm>
          <a:prstGeom prst="rect">
            <a:avLst/>
          </a:prstGeom>
          <a:noFill/>
        </p:spPr>
        <p:txBody>
          <a:bodyPr wrap="square" lIns="0" rIns="0" tIns="0" bIns="0">
            <a:spAutoFit/>
          </a:bodyPr>
          <a:lstStyle/>
          <a:p>
            <a:pPr indent="-201168" marL="201168">
              <a:lnSpc>
                <a:spcPct val="105000"/>
              </a:lnSpc>
              <a:spcAft>
                <a:spcPts val="1400"/>
              </a:spcAft>
              <a:buFont typeface="Calibri"/>
              <a:buChar char="–"/>
            </a:pPr>
            <a:r>
              <a:rPr sz="1450">
                <a:solidFill>
                  <a:srgbClr val="2B2B2B"/>
                </a:solidFill>
                <a:latin typeface="Calibri"/>
              </a:rPr>
              <a:t>inet_pton() wandelt die IP-Adresse in Binärformat um</a:t>
            </a:r>
          </a:p>
          <a:p>
            <a:pPr indent="-201168" marL="201168">
              <a:lnSpc>
                <a:spcPct val="105000"/>
              </a:lnSpc>
              <a:spcAft>
                <a:spcPts val="1400"/>
              </a:spcAft>
              <a:buFont typeface="Calibri"/>
              <a:buChar char="–"/>
            </a:pPr>
            <a:r>
              <a:rPr sz="1450">
                <a:solidFill>
                  <a:srgbClr val="2B2B2B"/>
                </a:solidFill>
                <a:latin typeface="Calibri"/>
              </a:rPr>
              <a:t>connect() sendet das TCP-SYN-Paket zum Server</a:t>
            </a:r>
          </a:p>
          <a:p>
            <a:pPr indent="-201168" marL="201168">
              <a:lnSpc>
                <a:spcPct val="105000"/>
              </a:lnSpc>
              <a:spcAft>
                <a:spcPts val="1400"/>
              </a:spcAft>
              <a:buFont typeface="Calibri"/>
              <a:buChar char="–"/>
            </a:pPr>
            <a:r>
              <a:rPr sz="1450">
                <a:solidFill>
                  <a:srgbClr val="2B2B2B"/>
                </a:solidFill>
                <a:latin typeface="Calibri"/>
              </a:rPr>
              <a:t>Blockiert, bis die Verbindung steht oder ein Fehler auftritt</a:t>
            </a:r>
          </a:p>
          <a:p>
            <a:pPr indent="-201168" marL="201168">
              <a:lnSpc>
                <a:spcPct val="105000"/>
              </a:lnSpc>
              <a:spcAft>
                <a:spcPts val="1400"/>
              </a:spcAft>
              <a:buFont typeface="Calibri"/>
              <a:buChar char="–"/>
            </a:pPr>
            <a:r>
              <a:rPr sz="1450">
                <a:solidFill>
                  <a:srgbClr val="2B2B2B"/>
                </a:solidFill>
                <a:latin typeface="Calibri"/>
              </a:rPr>
              <a:t>Bei Erfolg: identischer Loop wie beim Server (send/recv)</a:t>
            </a:r>
          </a:p>
        </p:txBody>
      </p:sp>
      <p:sp>
        <p:nvSpPr>
          <p:cNvPr id="5" name="TextBox 4"/>
          <p:cNvSpPr txBox="1"/>
          <p:nvPr/>
        </p:nvSpPr>
        <p:spPr>
          <a:xfrm>
            <a:off x="640080" y="6473952"/>
            <a:ext cx="7315200" cy="274320"/>
          </a:xfrm>
          <a:prstGeom prst="rect">
            <a:avLst/>
          </a:prstGeom>
          <a:noFill/>
        </p:spPr>
        <p:txBody>
          <a:bodyPr wrap="square" anchor="t" lIns="0" rIns="0" tIns="0" bIns="0">
            <a:spAutoFit/>
          </a:bodyPr>
          <a:lstStyle/>
          <a:p>
            <a:pPr algn="l">
              <a:lnSpc>
                <a:spcPct val="100000"/>
              </a:lnSpc>
              <a:spcAft>
                <a:spcPts val="0"/>
              </a:spcAft>
            </a:pPr>
            <a:r>
              <a:rPr sz="1000" b="0" i="0">
                <a:solidFill>
                  <a:srgbClr val="5A6B7B"/>
                </a:solidFill>
                <a:latin typeface="Calibri"/>
              </a:rPr>
              <a:t>TCP Chat-Server in C++  ·  Fachprüfungsprojekt</a:t>
            </a:r>
          </a:p>
        </p:txBody>
      </p:sp>
      <p:sp>
        <p:nvSpPr>
          <p:cNvPr id="6" name="TextBox 5"/>
          <p:cNvSpPr txBox="1"/>
          <p:nvPr/>
        </p:nvSpPr>
        <p:spPr>
          <a:xfrm>
            <a:off x="11064240" y="6473952"/>
            <a:ext cx="548640" cy="274320"/>
          </a:xfrm>
          <a:prstGeom prst="rect">
            <a:avLst/>
          </a:prstGeom>
          <a:noFill/>
        </p:spPr>
        <p:txBody>
          <a:bodyPr wrap="square" anchor="t" lIns="0" rIns="0" tIns="0" bIns="0">
            <a:spAutoFit/>
          </a:bodyPr>
          <a:lstStyle/>
          <a:p>
            <a:pPr algn="r">
              <a:lnSpc>
                <a:spcPct val="100000"/>
              </a:lnSpc>
              <a:spcAft>
                <a:spcPts val="0"/>
              </a:spcAft>
            </a:pPr>
            <a:r>
              <a:rPr sz="1000" b="0" i="0">
                <a:solidFill>
                  <a:srgbClr val="5A6B7B"/>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EF3FB"/>
        </a:solidFill>
        <a:effectLst/>
      </p:bgPr>
    </p:bg>
    <p:spTree>
      <p:nvGrpSpPr>
        <p:cNvPr id="1" name=""/>
        <p:cNvGrpSpPr/>
        <p:nvPr/>
      </p:nvGrpSpPr>
      <p:grpSpPr/>
      <p:sp>
        <p:nvSpPr>
          <p:cNvPr id="2" name="TextBox 1"/>
          <p:cNvSpPr txBox="1"/>
          <p:nvPr/>
        </p:nvSpPr>
        <p:spPr>
          <a:xfrm>
            <a:off x="640080" y="457200"/>
            <a:ext cx="7315200" cy="320040"/>
          </a:xfrm>
          <a:prstGeom prst="rect">
            <a:avLst/>
          </a:prstGeom>
          <a:noFill/>
        </p:spPr>
        <p:txBody>
          <a:bodyPr wrap="square" anchor="t" lIns="0" rIns="0" tIns="0" bIns="0">
            <a:spAutoFit/>
          </a:bodyPr>
          <a:lstStyle/>
          <a:p>
            <a:pPr algn="l">
              <a:lnSpc>
                <a:spcPct val="100000"/>
              </a:lnSpc>
              <a:spcAft>
                <a:spcPts val="0"/>
              </a:spcAft>
            </a:pPr>
            <a:r>
              <a:rPr sz="1300" b="1" i="0">
                <a:solidFill>
                  <a:srgbClr val="00B4D8"/>
                </a:solidFill>
                <a:latin typeface="Calibri"/>
              </a:rPr>
              <a:t>ÜBERGANG ZUR PRAXIS</a:t>
            </a:r>
          </a:p>
        </p:txBody>
      </p:sp>
      <p:sp>
        <p:nvSpPr>
          <p:cNvPr id="3" name="TextBox 2"/>
          <p:cNvSpPr txBox="1"/>
          <p:nvPr/>
        </p:nvSpPr>
        <p:spPr>
          <a:xfrm>
            <a:off x="640080" y="868680"/>
            <a:ext cx="10881360" cy="822960"/>
          </a:xfrm>
          <a:prstGeom prst="rect">
            <a:avLst/>
          </a:prstGeom>
          <a:noFill/>
        </p:spPr>
        <p:txBody>
          <a:bodyPr wrap="square" anchor="t" lIns="0" rIns="0" tIns="0" bIns="0">
            <a:spAutoFit/>
          </a:bodyPr>
          <a:lstStyle/>
          <a:p>
            <a:pPr algn="l">
              <a:lnSpc>
                <a:spcPct val="100000"/>
              </a:lnSpc>
              <a:spcAft>
                <a:spcPts val="0"/>
              </a:spcAft>
            </a:pPr>
            <a:r>
              <a:rPr sz="3200" b="1" i="0">
                <a:solidFill>
                  <a:srgbClr val="1E2761"/>
                </a:solidFill>
                <a:latin typeface="Cambria"/>
              </a:rPr>
              <a:t>Jetzt: Live-Demonstration</a:t>
            </a:r>
          </a:p>
        </p:txBody>
      </p:sp>
      <p:sp>
        <p:nvSpPr>
          <p:cNvPr id="4" name="Oval 3"/>
          <p:cNvSpPr/>
          <p:nvPr/>
        </p:nvSpPr>
        <p:spPr>
          <a:xfrm>
            <a:off x="822960" y="1920240"/>
            <a:ext cx="502920" cy="502920"/>
          </a:xfrm>
          <a:prstGeom prst="ellipse">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a:solidFill>
                  <a:srgbClr val="FFFFFF"/>
                </a:solidFill>
                <a:latin typeface="Calibri"/>
              </a:rPr>
              <a:t>1</a:t>
            </a:r>
          </a:p>
        </p:txBody>
      </p:sp>
      <p:sp>
        <p:nvSpPr>
          <p:cNvPr id="5" name="TextBox 4"/>
          <p:cNvSpPr txBox="1"/>
          <p:nvPr/>
        </p:nvSpPr>
        <p:spPr>
          <a:xfrm>
            <a:off x="1600200" y="1892808"/>
            <a:ext cx="4297680" cy="365760"/>
          </a:xfrm>
          <a:prstGeom prst="rect">
            <a:avLst/>
          </a:prstGeom>
          <a:noFill/>
        </p:spPr>
        <p:txBody>
          <a:bodyPr wrap="square" anchor="t" lIns="0" rIns="0" tIns="0" bIns="0">
            <a:spAutoFit/>
          </a:bodyPr>
          <a:lstStyle/>
          <a:p>
            <a:pPr algn="l">
              <a:lnSpc>
                <a:spcPct val="100000"/>
              </a:lnSpc>
              <a:spcAft>
                <a:spcPts val="0"/>
              </a:spcAft>
            </a:pPr>
            <a:r>
              <a:rPr sz="1600" b="1" i="0">
                <a:solidFill>
                  <a:srgbClr val="1E2761"/>
                </a:solidFill>
                <a:latin typeface="Calibri"/>
              </a:rPr>
              <a:t>Server starten</a:t>
            </a:r>
          </a:p>
        </p:txBody>
      </p:sp>
      <p:sp>
        <p:nvSpPr>
          <p:cNvPr id="6" name="TextBox 5"/>
          <p:cNvSpPr txBox="1"/>
          <p:nvPr/>
        </p:nvSpPr>
        <p:spPr>
          <a:xfrm>
            <a:off x="1600200" y="2286000"/>
            <a:ext cx="8961120" cy="365760"/>
          </a:xfrm>
          <a:prstGeom prst="rect">
            <a:avLst/>
          </a:prstGeom>
          <a:noFill/>
        </p:spPr>
        <p:txBody>
          <a:bodyPr wrap="square" anchor="t" lIns="0" rIns="0" tIns="0" bIns="0">
            <a:spAutoFit/>
          </a:bodyPr>
          <a:lstStyle/>
          <a:p>
            <a:pPr algn="l">
              <a:lnSpc>
                <a:spcPct val="100000"/>
              </a:lnSpc>
              <a:spcAft>
                <a:spcPts val="0"/>
              </a:spcAft>
            </a:pPr>
            <a:r>
              <a:rPr sz="1300" b="0" i="0">
                <a:solidFill>
                  <a:srgbClr val="5A6B7B"/>
                </a:solidFill>
                <a:latin typeface="Calibri"/>
              </a:rPr>
              <a:t>Terminal 1: .\server.exe</a:t>
            </a:r>
          </a:p>
        </p:txBody>
      </p:sp>
      <p:sp>
        <p:nvSpPr>
          <p:cNvPr id="7" name="Oval 6"/>
          <p:cNvSpPr/>
          <p:nvPr/>
        </p:nvSpPr>
        <p:spPr>
          <a:xfrm>
            <a:off x="822960" y="2761488"/>
            <a:ext cx="502920" cy="502920"/>
          </a:xfrm>
          <a:prstGeom prst="ellipse">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a:solidFill>
                  <a:srgbClr val="FFFFFF"/>
                </a:solidFill>
                <a:latin typeface="Calibri"/>
              </a:rPr>
              <a:t>2</a:t>
            </a:r>
          </a:p>
        </p:txBody>
      </p:sp>
      <p:sp>
        <p:nvSpPr>
          <p:cNvPr id="8" name="TextBox 7"/>
          <p:cNvSpPr txBox="1"/>
          <p:nvPr/>
        </p:nvSpPr>
        <p:spPr>
          <a:xfrm>
            <a:off x="1600200" y="2734056"/>
            <a:ext cx="4297680" cy="365760"/>
          </a:xfrm>
          <a:prstGeom prst="rect">
            <a:avLst/>
          </a:prstGeom>
          <a:noFill/>
        </p:spPr>
        <p:txBody>
          <a:bodyPr wrap="square" anchor="t" lIns="0" rIns="0" tIns="0" bIns="0">
            <a:spAutoFit/>
          </a:bodyPr>
          <a:lstStyle/>
          <a:p>
            <a:pPr algn="l">
              <a:lnSpc>
                <a:spcPct val="100000"/>
              </a:lnSpc>
              <a:spcAft>
                <a:spcPts val="0"/>
              </a:spcAft>
            </a:pPr>
            <a:r>
              <a:rPr sz="1600" b="1" i="0">
                <a:solidFill>
                  <a:srgbClr val="1E2761"/>
                </a:solidFill>
                <a:latin typeface="Calibri"/>
              </a:rPr>
              <a:t>Client starten</a:t>
            </a:r>
          </a:p>
        </p:txBody>
      </p:sp>
      <p:sp>
        <p:nvSpPr>
          <p:cNvPr id="9" name="TextBox 8"/>
          <p:cNvSpPr txBox="1"/>
          <p:nvPr/>
        </p:nvSpPr>
        <p:spPr>
          <a:xfrm>
            <a:off x="1600200" y="3127248"/>
            <a:ext cx="8961120" cy="365760"/>
          </a:xfrm>
          <a:prstGeom prst="rect">
            <a:avLst/>
          </a:prstGeom>
          <a:noFill/>
        </p:spPr>
        <p:txBody>
          <a:bodyPr wrap="square" anchor="t" lIns="0" rIns="0" tIns="0" bIns="0">
            <a:spAutoFit/>
          </a:bodyPr>
          <a:lstStyle/>
          <a:p>
            <a:pPr algn="l">
              <a:lnSpc>
                <a:spcPct val="100000"/>
              </a:lnSpc>
              <a:spcAft>
                <a:spcPts val="0"/>
              </a:spcAft>
            </a:pPr>
            <a:r>
              <a:rPr sz="1300" b="0" i="0">
                <a:solidFill>
                  <a:srgbClr val="5A6B7B"/>
                </a:solidFill>
                <a:latin typeface="Calibri"/>
              </a:rPr>
              <a:t>Terminal 2: .\client.exe – Verbindung wird aufgebaut</a:t>
            </a:r>
          </a:p>
        </p:txBody>
      </p:sp>
      <p:sp>
        <p:nvSpPr>
          <p:cNvPr id="10" name="Oval 9"/>
          <p:cNvSpPr/>
          <p:nvPr/>
        </p:nvSpPr>
        <p:spPr>
          <a:xfrm>
            <a:off x="822960" y="3602736"/>
            <a:ext cx="502920" cy="502920"/>
          </a:xfrm>
          <a:prstGeom prst="ellipse">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a:solidFill>
                  <a:srgbClr val="FFFFFF"/>
                </a:solidFill>
                <a:latin typeface="Calibri"/>
              </a:rPr>
              <a:t>3</a:t>
            </a:r>
          </a:p>
        </p:txBody>
      </p:sp>
      <p:sp>
        <p:nvSpPr>
          <p:cNvPr id="11" name="TextBox 10"/>
          <p:cNvSpPr txBox="1"/>
          <p:nvPr/>
        </p:nvSpPr>
        <p:spPr>
          <a:xfrm>
            <a:off x="1600200" y="3575304"/>
            <a:ext cx="4297680" cy="365760"/>
          </a:xfrm>
          <a:prstGeom prst="rect">
            <a:avLst/>
          </a:prstGeom>
          <a:noFill/>
        </p:spPr>
        <p:txBody>
          <a:bodyPr wrap="square" anchor="t" lIns="0" rIns="0" tIns="0" bIns="0">
            <a:spAutoFit/>
          </a:bodyPr>
          <a:lstStyle/>
          <a:p>
            <a:pPr algn="l">
              <a:lnSpc>
                <a:spcPct val="100000"/>
              </a:lnSpc>
              <a:spcAft>
                <a:spcPts val="0"/>
              </a:spcAft>
            </a:pPr>
            <a:r>
              <a:rPr sz="1600" b="1" i="0">
                <a:solidFill>
                  <a:srgbClr val="1E2761"/>
                </a:solidFill>
                <a:latin typeface="Calibri"/>
              </a:rPr>
              <a:t>Nachrichten austauschen</a:t>
            </a:r>
          </a:p>
        </p:txBody>
      </p:sp>
      <p:sp>
        <p:nvSpPr>
          <p:cNvPr id="12" name="TextBox 11"/>
          <p:cNvSpPr txBox="1"/>
          <p:nvPr/>
        </p:nvSpPr>
        <p:spPr>
          <a:xfrm>
            <a:off x="1600200" y="3968496"/>
            <a:ext cx="8961120" cy="365760"/>
          </a:xfrm>
          <a:prstGeom prst="rect">
            <a:avLst/>
          </a:prstGeom>
          <a:noFill/>
        </p:spPr>
        <p:txBody>
          <a:bodyPr wrap="square" anchor="t" lIns="0" rIns="0" tIns="0" bIns="0">
            <a:spAutoFit/>
          </a:bodyPr>
          <a:lstStyle/>
          <a:p>
            <a:pPr algn="l">
              <a:lnSpc>
                <a:spcPct val="100000"/>
              </a:lnSpc>
              <a:spcAft>
                <a:spcPts val="0"/>
              </a:spcAft>
            </a:pPr>
            <a:r>
              <a:rPr sz="1300" b="0" i="0">
                <a:solidFill>
                  <a:srgbClr val="5A6B7B"/>
                </a:solidFill>
                <a:latin typeface="Calibri"/>
              </a:rPr>
              <a:t>Wechselseitig senden und empfangen</a:t>
            </a:r>
          </a:p>
        </p:txBody>
      </p:sp>
      <p:sp>
        <p:nvSpPr>
          <p:cNvPr id="13" name="Oval 12"/>
          <p:cNvSpPr/>
          <p:nvPr/>
        </p:nvSpPr>
        <p:spPr>
          <a:xfrm>
            <a:off x="822960" y="4443984"/>
            <a:ext cx="502920" cy="502920"/>
          </a:xfrm>
          <a:prstGeom prst="ellipse">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a:solidFill>
                  <a:srgbClr val="FFFFFF"/>
                </a:solidFill>
                <a:latin typeface="Calibri"/>
              </a:rPr>
              <a:t>4</a:t>
            </a:r>
          </a:p>
        </p:txBody>
      </p:sp>
      <p:sp>
        <p:nvSpPr>
          <p:cNvPr id="14" name="TextBox 13"/>
          <p:cNvSpPr txBox="1"/>
          <p:nvPr/>
        </p:nvSpPr>
        <p:spPr>
          <a:xfrm>
            <a:off x="1600200" y="4416552"/>
            <a:ext cx="4297680" cy="365760"/>
          </a:xfrm>
          <a:prstGeom prst="rect">
            <a:avLst/>
          </a:prstGeom>
          <a:noFill/>
        </p:spPr>
        <p:txBody>
          <a:bodyPr wrap="square" anchor="t" lIns="0" rIns="0" tIns="0" bIns="0">
            <a:spAutoFit/>
          </a:bodyPr>
          <a:lstStyle/>
          <a:p>
            <a:pPr algn="l">
              <a:lnSpc>
                <a:spcPct val="100000"/>
              </a:lnSpc>
              <a:spcAft>
                <a:spcPts val="0"/>
              </a:spcAft>
            </a:pPr>
            <a:r>
              <a:rPr sz="1600" b="1" i="0">
                <a:solidFill>
                  <a:srgbClr val="1E2761"/>
                </a:solidFill>
                <a:latin typeface="Calibri"/>
              </a:rPr>
              <a:t>Verbindung sauber beenden</a:t>
            </a:r>
          </a:p>
        </p:txBody>
      </p:sp>
      <p:sp>
        <p:nvSpPr>
          <p:cNvPr id="15" name="TextBox 14"/>
          <p:cNvSpPr txBox="1"/>
          <p:nvPr/>
        </p:nvSpPr>
        <p:spPr>
          <a:xfrm>
            <a:off x="1600200" y="4809744"/>
            <a:ext cx="8961120" cy="365760"/>
          </a:xfrm>
          <a:prstGeom prst="rect">
            <a:avLst/>
          </a:prstGeom>
          <a:noFill/>
        </p:spPr>
        <p:txBody>
          <a:bodyPr wrap="square" anchor="t" lIns="0" rIns="0" tIns="0" bIns="0">
            <a:spAutoFit/>
          </a:bodyPr>
          <a:lstStyle/>
          <a:p>
            <a:pPr algn="l">
              <a:lnSpc>
                <a:spcPct val="100000"/>
              </a:lnSpc>
              <a:spcAft>
                <a:spcPts val="0"/>
              </a:spcAft>
            </a:pPr>
            <a:r>
              <a:rPr sz="1300" b="0" i="0">
                <a:solidFill>
                  <a:srgbClr val="5A6B7B"/>
                </a:solidFill>
                <a:latin typeface="Calibri"/>
              </a:rPr>
              <a:t>'exit' eingeben – beide Seiten terminieren</a:t>
            </a:r>
          </a:p>
        </p:txBody>
      </p:sp>
      <p:sp>
        <p:nvSpPr>
          <p:cNvPr id="16" name="Oval 15"/>
          <p:cNvSpPr/>
          <p:nvPr/>
        </p:nvSpPr>
        <p:spPr>
          <a:xfrm>
            <a:off x="822960" y="5285232"/>
            <a:ext cx="502920" cy="502920"/>
          </a:xfrm>
          <a:prstGeom prst="ellipse">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a:solidFill>
                  <a:srgbClr val="FFFFFF"/>
                </a:solidFill>
                <a:latin typeface="Calibri"/>
              </a:rPr>
              <a:t>5</a:t>
            </a:r>
          </a:p>
        </p:txBody>
      </p:sp>
      <p:sp>
        <p:nvSpPr>
          <p:cNvPr id="17" name="TextBox 16"/>
          <p:cNvSpPr txBox="1"/>
          <p:nvPr/>
        </p:nvSpPr>
        <p:spPr>
          <a:xfrm>
            <a:off x="1600200" y="5257800"/>
            <a:ext cx="4297680" cy="365760"/>
          </a:xfrm>
          <a:prstGeom prst="rect">
            <a:avLst/>
          </a:prstGeom>
          <a:noFill/>
        </p:spPr>
        <p:txBody>
          <a:bodyPr wrap="square" anchor="t" lIns="0" rIns="0" tIns="0" bIns="0">
            <a:spAutoFit/>
          </a:bodyPr>
          <a:lstStyle/>
          <a:p>
            <a:pPr algn="l">
              <a:lnSpc>
                <a:spcPct val="100000"/>
              </a:lnSpc>
              <a:spcAft>
                <a:spcPts val="0"/>
              </a:spcAft>
            </a:pPr>
            <a:r>
              <a:rPr sz="1600" b="1" i="0">
                <a:solidFill>
                  <a:srgbClr val="1E2761"/>
                </a:solidFill>
                <a:latin typeface="Calibri"/>
              </a:rPr>
              <a:t>Fehlerfall zeigen</a:t>
            </a:r>
          </a:p>
        </p:txBody>
      </p:sp>
      <p:sp>
        <p:nvSpPr>
          <p:cNvPr id="18" name="TextBox 17"/>
          <p:cNvSpPr txBox="1"/>
          <p:nvPr/>
        </p:nvSpPr>
        <p:spPr>
          <a:xfrm>
            <a:off x="1600200" y="5650992"/>
            <a:ext cx="8961120" cy="365760"/>
          </a:xfrm>
          <a:prstGeom prst="rect">
            <a:avLst/>
          </a:prstGeom>
          <a:noFill/>
        </p:spPr>
        <p:txBody>
          <a:bodyPr wrap="square" anchor="t" lIns="0" rIns="0" tIns="0" bIns="0">
            <a:spAutoFit/>
          </a:bodyPr>
          <a:lstStyle/>
          <a:p>
            <a:pPr algn="l">
              <a:lnSpc>
                <a:spcPct val="100000"/>
              </a:lnSpc>
              <a:spcAft>
                <a:spcPts val="0"/>
              </a:spcAft>
            </a:pPr>
            <a:r>
              <a:rPr sz="1300" b="0" i="0">
                <a:solidFill>
                  <a:srgbClr val="5A6B7B"/>
                </a:solidFill>
                <a:latin typeface="Calibri"/>
              </a:rPr>
              <a:t>Zweiter Serverstart auf belegtem Port 9000</a:t>
            </a:r>
          </a:p>
        </p:txBody>
      </p:sp>
      <p:sp>
        <p:nvSpPr>
          <p:cNvPr id="19" name="TextBox 18"/>
          <p:cNvSpPr txBox="1"/>
          <p:nvPr/>
        </p:nvSpPr>
        <p:spPr>
          <a:xfrm>
            <a:off x="640080" y="6172200"/>
            <a:ext cx="9144000" cy="365760"/>
          </a:xfrm>
          <a:prstGeom prst="rect">
            <a:avLst/>
          </a:prstGeom>
          <a:noFill/>
        </p:spPr>
        <p:txBody>
          <a:bodyPr wrap="square" anchor="t" lIns="0" rIns="0" tIns="0" bIns="0">
            <a:spAutoFit/>
          </a:bodyPr>
          <a:lstStyle/>
          <a:p>
            <a:pPr algn="l">
              <a:lnSpc>
                <a:spcPct val="100000"/>
              </a:lnSpc>
              <a:spcAft>
                <a:spcPts val="0"/>
              </a:spcAft>
            </a:pPr>
            <a:r>
              <a:rPr sz="1300" b="0" i="1">
                <a:solidFill>
                  <a:srgbClr val="1E2761"/>
                </a:solidFill>
                <a:latin typeface="Calibri"/>
              </a:rPr>
              <a:t>Ab hier wechsle ich zu VS Code / Terminal.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TextBox 1"/>
          <p:cNvSpPr txBox="1"/>
          <p:nvPr/>
        </p:nvSpPr>
        <p:spPr>
          <a:xfrm>
            <a:off x="640080" y="457200"/>
            <a:ext cx="10881360" cy="822960"/>
          </a:xfrm>
          <a:prstGeom prst="rect">
            <a:avLst/>
          </a:prstGeom>
          <a:noFill/>
        </p:spPr>
        <p:txBody>
          <a:bodyPr wrap="square" anchor="t" lIns="0" rIns="0" tIns="0" bIns="0">
            <a:spAutoFit/>
          </a:bodyPr>
          <a:lstStyle/>
          <a:p>
            <a:pPr algn="l">
              <a:lnSpc>
                <a:spcPct val="100000"/>
              </a:lnSpc>
              <a:spcAft>
                <a:spcPts val="0"/>
              </a:spcAft>
            </a:pPr>
            <a:r>
              <a:rPr sz="3200" b="1" i="0">
                <a:solidFill>
                  <a:srgbClr val="1E2761"/>
                </a:solidFill>
                <a:latin typeface="Cambria"/>
              </a:rPr>
              <a:t>Herausforderungen bei der Umsetzung</a:t>
            </a:r>
          </a:p>
        </p:txBody>
      </p:sp>
      <p:graphicFrame>
        <p:nvGraphicFramePr>
          <p:cNvPr id="3" name="Table 2"/>
          <p:cNvGraphicFramePr>
            <a:graphicFrameLocks noGrp="1"/>
          </p:cNvGraphicFramePr>
          <p:nvPr/>
        </p:nvGraphicFramePr>
        <p:xfrm>
          <a:off x="640080" y="1554480"/>
          <a:ext cx="10881360" cy="3108960"/>
        </p:xfrm>
        <a:graphic>
          <a:graphicData uri="http://schemas.openxmlformats.org/drawingml/2006/table">
            <a:tbl>
              <a:tblPr firstRow="1" bandRow="1">
                <a:tableStyleId>{5C22544A-7EE6-4342-B048-85BDC9FD1C3A}</a:tableStyleId>
              </a:tblPr>
              <a:tblGrid>
                <a:gridCol w="5852160"/>
                <a:gridCol w="5029200"/>
              </a:tblGrid>
              <a:tr h="621792">
                <a:tc>
                  <a:txBody>
                    <a:bodyPr/>
                    <a:lstStyle/>
                    <a:p>
                      <a:r>
                        <a:rPr sz="1450" b="1">
                          <a:solidFill>
                            <a:srgbClr val="FFFFFF"/>
                          </a:solidFill>
                          <a:latin typeface="Calibri"/>
                        </a:rPr>
                        <a:t>Problem</a:t>
                      </a:r>
                    </a:p>
                  </a:txBody>
                  <a:tcPr marL="109728" marR="109728" marT="54864" marB="54864" anchor="ctr">
                    <a:solidFill>
                      <a:srgbClr val="1E2761"/>
                    </a:solidFill>
                  </a:tcPr>
                </a:tc>
                <a:tc>
                  <a:txBody>
                    <a:bodyPr/>
                    <a:lstStyle/>
                    <a:p>
                      <a:r>
                        <a:rPr sz="1450" b="1">
                          <a:solidFill>
                            <a:srgbClr val="FFFFFF"/>
                          </a:solidFill>
                          <a:latin typeface="Calibri"/>
                        </a:rPr>
                        <a:t>Lösung</a:t>
                      </a:r>
                    </a:p>
                  </a:txBody>
                  <a:tcPr marL="109728" marR="109728" marT="54864" marB="54864" anchor="ctr">
                    <a:solidFill>
                      <a:srgbClr val="1E2761"/>
                    </a:solidFill>
                  </a:tcPr>
                </a:tc>
              </a:tr>
              <a:tr h="621792">
                <a:tc>
                  <a:txBody>
                    <a:bodyPr/>
                    <a:lstStyle/>
                    <a:p>
                      <a:r>
                        <a:rPr sz="1450">
                          <a:solidFill>
                            <a:srgbClr val="2B2B2B"/>
                          </a:solidFill>
                          <a:latin typeface="Calibri"/>
                        </a:rPr>
                        <a:t>Kein C++-Compiler unter Windows vorhanden</a:t>
                      </a:r>
                    </a:p>
                  </a:txBody>
                  <a:tcPr marL="109728" marR="109728" marT="54864" marB="54864" anchor="ctr">
                    <a:solidFill>
                      <a:srgbClr val="FFFFFF"/>
                    </a:solidFill>
                  </a:tcPr>
                </a:tc>
                <a:tc>
                  <a:txBody>
                    <a:bodyPr/>
                    <a:lstStyle/>
                    <a:p>
                      <a:r>
                        <a:rPr sz="1450">
                          <a:solidFill>
                            <a:srgbClr val="2B2B2B"/>
                          </a:solidFill>
                          <a:latin typeface="Calibri"/>
                        </a:rPr>
                        <a:t>MinGW-w64 über MSYS2 installiert</a:t>
                      </a:r>
                    </a:p>
                  </a:txBody>
                  <a:tcPr marL="109728" marR="109728" marT="54864" marB="54864" anchor="ctr">
                    <a:solidFill>
                      <a:srgbClr val="FFFFFF"/>
                    </a:solidFill>
                  </a:tcPr>
                </a:tc>
              </a:tr>
              <a:tr h="621792">
                <a:tc>
                  <a:txBody>
                    <a:bodyPr/>
                    <a:lstStyle/>
                    <a:p>
                      <a:r>
                        <a:rPr sz="1450">
                          <a:solidFill>
                            <a:srgbClr val="2B2B2B"/>
                          </a:solidFill>
                          <a:latin typeface="Calibri"/>
                        </a:rPr>
                        <a:t>PATH-Variable nach Installation nicht aktiv</a:t>
                      </a:r>
                    </a:p>
                  </a:txBody>
                  <a:tcPr marL="109728" marR="109728" marT="54864" marB="54864" anchor="ctr">
                    <a:solidFill>
                      <a:srgbClr val="EEF3FB"/>
                    </a:solidFill>
                  </a:tcPr>
                </a:tc>
                <a:tc>
                  <a:txBody>
                    <a:bodyPr/>
                    <a:lstStyle/>
                    <a:p>
                      <a:r>
                        <a:rPr sz="1450">
                          <a:solidFill>
                            <a:srgbClr val="2B2B2B"/>
                          </a:solidFill>
                          <a:latin typeface="Calibri"/>
                        </a:rPr>
                        <a:t>Terminal/Rechner neu gestartet</a:t>
                      </a:r>
                    </a:p>
                  </a:txBody>
                  <a:tcPr marL="109728" marR="109728" marT="54864" marB="54864" anchor="ctr">
                    <a:solidFill>
                      <a:srgbClr val="EEF3FB"/>
                    </a:solidFill>
                  </a:tcPr>
                </a:tc>
              </a:tr>
              <a:tr h="621792">
                <a:tc>
                  <a:txBody>
                    <a:bodyPr/>
                    <a:lstStyle/>
                    <a:p>
                      <a:r>
                        <a:rPr sz="1450">
                          <a:solidFill>
                            <a:srgbClr val="2B2B2B"/>
                          </a:solidFill>
                          <a:latin typeface="Calibri"/>
                        </a:rPr>
                        <a:t>"test.cpp: No such file or directory"</a:t>
                      </a:r>
                    </a:p>
                  </a:txBody>
                  <a:tcPr marL="109728" marR="109728" marT="54864" marB="54864" anchor="ctr">
                    <a:solidFill>
                      <a:srgbClr val="FFFFFF"/>
                    </a:solidFill>
                  </a:tcPr>
                </a:tc>
                <a:tc>
                  <a:txBody>
                    <a:bodyPr/>
                    <a:lstStyle/>
                    <a:p>
                      <a:r>
                        <a:rPr sz="1450">
                          <a:solidFill>
                            <a:srgbClr val="2B2B2B"/>
                          </a:solidFill>
                          <a:latin typeface="Calibri"/>
                        </a:rPr>
                        <a:t>Mit cd in den richtigen Projektordner gewechselt</a:t>
                      </a:r>
                    </a:p>
                  </a:txBody>
                  <a:tcPr marL="109728" marR="109728" marT="54864" marB="54864" anchor="ctr">
                    <a:solidFill>
                      <a:srgbClr val="FFFFFF"/>
                    </a:solidFill>
                  </a:tcPr>
                </a:tc>
              </a:tr>
              <a:tr h="621792">
                <a:tc>
                  <a:txBody>
                    <a:bodyPr/>
                    <a:lstStyle/>
                    <a:p>
                      <a:r>
                        <a:rPr sz="1450">
                          <a:solidFill>
                            <a:srgbClr val="2B2B2B"/>
                          </a:solidFill>
                          <a:latin typeface="Calibri"/>
                        </a:rPr>
                        <a:t>.exe wurde in PowerShell nicht erkannt</a:t>
                      </a:r>
                    </a:p>
                  </a:txBody>
                  <a:tcPr marL="109728" marR="109728" marT="54864" marB="54864" anchor="ctr">
                    <a:solidFill>
                      <a:srgbClr val="EEF3FB"/>
                    </a:solidFill>
                  </a:tcPr>
                </a:tc>
                <a:tc>
                  <a:txBody>
                    <a:bodyPr/>
                    <a:lstStyle/>
                    <a:p>
                      <a:r>
                        <a:rPr sz="1450">
                          <a:solidFill>
                            <a:srgbClr val="2B2B2B"/>
                          </a:solidFill>
                          <a:latin typeface="Calibri"/>
                        </a:rPr>
                        <a:t>Aufruf mit vorangestelltem .\ (z.B. .\server.exe)</a:t>
                      </a:r>
                    </a:p>
                  </a:txBody>
                  <a:tcPr marL="109728" marR="109728" marT="54864" marB="54864" anchor="ctr">
                    <a:solidFill>
                      <a:srgbClr val="EEF3FB"/>
                    </a:solidFill>
                  </a:tcPr>
                </a:tc>
              </a:tr>
            </a:tbl>
          </a:graphicData>
        </a:graphic>
      </p:graphicFrame>
      <p:sp>
        <p:nvSpPr>
          <p:cNvPr id="4" name="TextBox 3"/>
          <p:cNvSpPr txBox="1"/>
          <p:nvPr/>
        </p:nvSpPr>
        <p:spPr>
          <a:xfrm>
            <a:off x="640080" y="5257800"/>
            <a:ext cx="10607040" cy="822960"/>
          </a:xfrm>
          <a:prstGeom prst="rect">
            <a:avLst/>
          </a:prstGeom>
          <a:noFill/>
        </p:spPr>
        <p:txBody>
          <a:bodyPr wrap="square" anchor="t" lIns="0" rIns="0" tIns="0" bIns="0">
            <a:spAutoFit/>
          </a:bodyPr>
          <a:lstStyle/>
          <a:p>
            <a:pPr algn="l">
              <a:lnSpc>
                <a:spcPct val="100000"/>
              </a:lnSpc>
              <a:spcAft>
                <a:spcPts val="0"/>
              </a:spcAft>
            </a:pPr>
            <a:r>
              <a:rPr sz="1350" b="0" i="1">
                <a:solidFill>
                  <a:srgbClr val="5A6B7B"/>
                </a:solidFill>
                <a:latin typeface="Calibri"/>
              </a:rPr>
              <a:t>Diese Fehler traten real während der Umsetzung auf und wurden eigenständig diagnostiziert und behoben.</a:t>
            </a:r>
          </a:p>
        </p:txBody>
      </p:sp>
      <p:sp>
        <p:nvSpPr>
          <p:cNvPr id="5" name="TextBox 4"/>
          <p:cNvSpPr txBox="1"/>
          <p:nvPr/>
        </p:nvSpPr>
        <p:spPr>
          <a:xfrm>
            <a:off x="640080" y="6473952"/>
            <a:ext cx="7315200" cy="274320"/>
          </a:xfrm>
          <a:prstGeom prst="rect">
            <a:avLst/>
          </a:prstGeom>
          <a:noFill/>
        </p:spPr>
        <p:txBody>
          <a:bodyPr wrap="square" anchor="t" lIns="0" rIns="0" tIns="0" bIns="0">
            <a:spAutoFit/>
          </a:bodyPr>
          <a:lstStyle/>
          <a:p>
            <a:pPr algn="l">
              <a:lnSpc>
                <a:spcPct val="100000"/>
              </a:lnSpc>
              <a:spcAft>
                <a:spcPts val="0"/>
              </a:spcAft>
            </a:pPr>
            <a:r>
              <a:rPr sz="1000" b="0" i="0">
                <a:solidFill>
                  <a:srgbClr val="5A6B7B"/>
                </a:solidFill>
                <a:latin typeface="Calibri"/>
              </a:rPr>
              <a:t>TCP Chat-Server in C++  ·  Fachprüfungsprojekt</a:t>
            </a:r>
          </a:p>
        </p:txBody>
      </p:sp>
      <p:sp>
        <p:nvSpPr>
          <p:cNvPr id="6" name="TextBox 5"/>
          <p:cNvSpPr txBox="1"/>
          <p:nvPr/>
        </p:nvSpPr>
        <p:spPr>
          <a:xfrm>
            <a:off x="11064240" y="6473952"/>
            <a:ext cx="548640" cy="274320"/>
          </a:xfrm>
          <a:prstGeom prst="rect">
            <a:avLst/>
          </a:prstGeom>
          <a:noFill/>
        </p:spPr>
        <p:txBody>
          <a:bodyPr wrap="square" anchor="t" lIns="0" rIns="0" tIns="0" bIns="0">
            <a:spAutoFit/>
          </a:bodyPr>
          <a:lstStyle/>
          <a:p>
            <a:pPr algn="r">
              <a:lnSpc>
                <a:spcPct val="100000"/>
              </a:lnSpc>
              <a:spcAft>
                <a:spcPts val="0"/>
              </a:spcAft>
            </a:pPr>
            <a:r>
              <a:rPr sz="1000" b="0" i="0">
                <a:solidFill>
                  <a:srgbClr val="5A6B7B"/>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TextBox 1"/>
          <p:cNvSpPr txBox="1"/>
          <p:nvPr/>
        </p:nvSpPr>
        <p:spPr>
          <a:xfrm>
            <a:off x="640080" y="457200"/>
            <a:ext cx="10881360" cy="822960"/>
          </a:xfrm>
          <a:prstGeom prst="rect">
            <a:avLst/>
          </a:prstGeom>
          <a:noFill/>
        </p:spPr>
        <p:txBody>
          <a:bodyPr wrap="square" anchor="t" lIns="0" rIns="0" tIns="0" bIns="0">
            <a:spAutoFit/>
          </a:bodyPr>
          <a:lstStyle/>
          <a:p>
            <a:pPr algn="l">
              <a:lnSpc>
                <a:spcPct val="100000"/>
              </a:lnSpc>
              <a:spcAft>
                <a:spcPts val="0"/>
              </a:spcAft>
            </a:pPr>
            <a:r>
              <a:rPr sz="3200" b="1" i="0">
                <a:solidFill>
                  <a:srgbClr val="1E2761"/>
                </a:solidFill>
                <a:latin typeface="Cambria"/>
              </a:rPr>
              <a:t>Erfüllt die Lösung die Anforderungen?</a:t>
            </a:r>
          </a:p>
        </p:txBody>
      </p:sp>
      <p:sp>
        <p:nvSpPr>
          <p:cNvPr id="3" name="Oval 2"/>
          <p:cNvSpPr/>
          <p:nvPr/>
        </p:nvSpPr>
        <p:spPr>
          <a:xfrm>
            <a:off x="731520" y="1691640"/>
            <a:ext cx="384048" cy="384048"/>
          </a:xfrm>
          <a:prstGeom prst="ellipse">
            <a:avLst/>
          </a:prstGeom>
          <a:solidFill>
            <a:srgbClr val="0E8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a:solidFill>
                  <a:srgbClr val="FFFFFF"/>
                </a:solidFill>
                <a:latin typeface="Calibri"/>
              </a:rPr>
              <a:t>✓</a:t>
            </a:r>
          </a:p>
        </p:txBody>
      </p:sp>
      <p:sp>
        <p:nvSpPr>
          <p:cNvPr id="4" name="TextBox 3"/>
          <p:cNvSpPr txBox="1"/>
          <p:nvPr/>
        </p:nvSpPr>
        <p:spPr>
          <a:xfrm>
            <a:off x="1325880" y="1709928"/>
            <a:ext cx="9875520" cy="457200"/>
          </a:xfrm>
          <a:prstGeom prst="rect">
            <a:avLst/>
          </a:prstGeom>
          <a:noFill/>
        </p:spPr>
        <p:txBody>
          <a:bodyPr wrap="square" anchor="t" lIns="0" rIns="0" tIns="0" bIns="0">
            <a:spAutoFit/>
          </a:bodyPr>
          <a:lstStyle/>
          <a:p>
            <a:pPr algn="l">
              <a:lnSpc>
                <a:spcPct val="100000"/>
              </a:lnSpc>
              <a:spcAft>
                <a:spcPts val="0"/>
              </a:spcAft>
            </a:pPr>
            <a:r>
              <a:rPr sz="1600" b="0" i="0">
                <a:solidFill>
                  <a:srgbClr val="2B2B2B"/>
                </a:solidFill>
                <a:latin typeface="Calibri"/>
              </a:rPr>
              <a:t>TCP-Verbindung auf Port 9000 wird zuverlässig aufgebaut</a:t>
            </a:r>
          </a:p>
        </p:txBody>
      </p:sp>
      <p:sp>
        <p:nvSpPr>
          <p:cNvPr id="5" name="Oval 4"/>
          <p:cNvSpPr/>
          <p:nvPr/>
        </p:nvSpPr>
        <p:spPr>
          <a:xfrm>
            <a:off x="731520" y="2441448"/>
            <a:ext cx="384048" cy="384048"/>
          </a:xfrm>
          <a:prstGeom prst="ellipse">
            <a:avLst/>
          </a:prstGeom>
          <a:solidFill>
            <a:srgbClr val="0E8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a:solidFill>
                  <a:srgbClr val="FFFFFF"/>
                </a:solidFill>
                <a:latin typeface="Calibri"/>
              </a:rPr>
              <a:t>✓</a:t>
            </a:r>
          </a:p>
        </p:txBody>
      </p:sp>
      <p:sp>
        <p:nvSpPr>
          <p:cNvPr id="6" name="TextBox 5"/>
          <p:cNvSpPr txBox="1"/>
          <p:nvPr/>
        </p:nvSpPr>
        <p:spPr>
          <a:xfrm>
            <a:off x="1325880" y="2459736"/>
            <a:ext cx="9875520" cy="457200"/>
          </a:xfrm>
          <a:prstGeom prst="rect">
            <a:avLst/>
          </a:prstGeom>
          <a:noFill/>
        </p:spPr>
        <p:txBody>
          <a:bodyPr wrap="square" anchor="t" lIns="0" rIns="0" tIns="0" bIns="0">
            <a:spAutoFit/>
          </a:bodyPr>
          <a:lstStyle/>
          <a:p>
            <a:pPr algn="l">
              <a:lnSpc>
                <a:spcPct val="100000"/>
              </a:lnSpc>
              <a:spcAft>
                <a:spcPts val="0"/>
              </a:spcAft>
            </a:pPr>
            <a:r>
              <a:rPr sz="1600" b="0" i="0">
                <a:solidFill>
                  <a:srgbClr val="2B2B2B"/>
                </a:solidFill>
                <a:latin typeface="Calibri"/>
              </a:rPr>
              <a:t>Bidirektionale Textkommunikation über die Konsole</a:t>
            </a:r>
          </a:p>
        </p:txBody>
      </p:sp>
      <p:sp>
        <p:nvSpPr>
          <p:cNvPr id="7" name="Oval 6"/>
          <p:cNvSpPr/>
          <p:nvPr/>
        </p:nvSpPr>
        <p:spPr>
          <a:xfrm>
            <a:off x="731520" y="3191256"/>
            <a:ext cx="384048" cy="384048"/>
          </a:xfrm>
          <a:prstGeom prst="ellipse">
            <a:avLst/>
          </a:prstGeom>
          <a:solidFill>
            <a:srgbClr val="0E8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a:solidFill>
                  <a:srgbClr val="FFFFFF"/>
                </a:solidFill>
                <a:latin typeface="Calibri"/>
              </a:rPr>
              <a:t>✓</a:t>
            </a:r>
          </a:p>
        </p:txBody>
      </p:sp>
      <p:sp>
        <p:nvSpPr>
          <p:cNvPr id="8" name="TextBox 7"/>
          <p:cNvSpPr txBox="1"/>
          <p:nvPr/>
        </p:nvSpPr>
        <p:spPr>
          <a:xfrm>
            <a:off x="1325880" y="3209544"/>
            <a:ext cx="9875520" cy="457200"/>
          </a:xfrm>
          <a:prstGeom prst="rect">
            <a:avLst/>
          </a:prstGeom>
          <a:noFill/>
        </p:spPr>
        <p:txBody>
          <a:bodyPr wrap="square" anchor="t" lIns="0" rIns="0" tIns="0" bIns="0">
            <a:spAutoFit/>
          </a:bodyPr>
          <a:lstStyle/>
          <a:p>
            <a:pPr algn="l">
              <a:lnSpc>
                <a:spcPct val="100000"/>
              </a:lnSpc>
              <a:spcAft>
                <a:spcPts val="0"/>
              </a:spcAft>
            </a:pPr>
            <a:r>
              <a:rPr sz="1600" b="0" i="0">
                <a:solidFill>
                  <a:srgbClr val="2B2B2B"/>
                </a:solidFill>
                <a:latin typeface="Calibri"/>
              </a:rPr>
              <a:t>Sauberes Verbindungsende über 'exit' auf beiden Seiten</a:t>
            </a:r>
          </a:p>
        </p:txBody>
      </p:sp>
      <p:sp>
        <p:nvSpPr>
          <p:cNvPr id="9" name="Oval 8"/>
          <p:cNvSpPr/>
          <p:nvPr/>
        </p:nvSpPr>
        <p:spPr>
          <a:xfrm>
            <a:off x="731520" y="3941063"/>
            <a:ext cx="384048" cy="384048"/>
          </a:xfrm>
          <a:prstGeom prst="ellipse">
            <a:avLst/>
          </a:prstGeom>
          <a:solidFill>
            <a:srgbClr val="0E8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a:solidFill>
                  <a:srgbClr val="FFFFFF"/>
                </a:solidFill>
                <a:latin typeface="Calibri"/>
              </a:rPr>
              <a:t>✓</a:t>
            </a:r>
          </a:p>
        </p:txBody>
      </p:sp>
      <p:sp>
        <p:nvSpPr>
          <p:cNvPr id="10" name="TextBox 9"/>
          <p:cNvSpPr txBox="1"/>
          <p:nvPr/>
        </p:nvSpPr>
        <p:spPr>
          <a:xfrm>
            <a:off x="1325880" y="3959351"/>
            <a:ext cx="9875520" cy="457200"/>
          </a:xfrm>
          <a:prstGeom prst="rect">
            <a:avLst/>
          </a:prstGeom>
          <a:noFill/>
        </p:spPr>
        <p:txBody>
          <a:bodyPr wrap="square" anchor="t" lIns="0" rIns="0" tIns="0" bIns="0">
            <a:spAutoFit/>
          </a:bodyPr>
          <a:lstStyle/>
          <a:p>
            <a:pPr algn="l">
              <a:lnSpc>
                <a:spcPct val="100000"/>
              </a:lnSpc>
              <a:spcAft>
                <a:spcPts val="0"/>
              </a:spcAft>
            </a:pPr>
            <a:r>
              <a:rPr sz="1600" b="0" i="0">
                <a:solidFill>
                  <a:srgbClr val="2B2B2B"/>
                </a:solidFill>
                <a:latin typeface="Calibri"/>
              </a:rPr>
              <a:t>Fehlerbehandlung bei bind(), listen(), accept(), connect()</a:t>
            </a:r>
          </a:p>
        </p:txBody>
      </p:sp>
      <p:sp>
        <p:nvSpPr>
          <p:cNvPr id="11" name="Oval 10"/>
          <p:cNvSpPr/>
          <p:nvPr/>
        </p:nvSpPr>
        <p:spPr>
          <a:xfrm>
            <a:off x="731520" y="4690872"/>
            <a:ext cx="384048" cy="384048"/>
          </a:xfrm>
          <a:prstGeom prst="ellipse">
            <a:avLst/>
          </a:prstGeom>
          <a:solidFill>
            <a:srgbClr val="0E8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a:solidFill>
                  <a:srgbClr val="FFFFFF"/>
                </a:solidFill>
                <a:latin typeface="Calibri"/>
              </a:rPr>
              <a:t>✓</a:t>
            </a:r>
          </a:p>
        </p:txBody>
      </p:sp>
      <p:sp>
        <p:nvSpPr>
          <p:cNvPr id="12" name="TextBox 11"/>
          <p:cNvSpPr txBox="1"/>
          <p:nvPr/>
        </p:nvSpPr>
        <p:spPr>
          <a:xfrm>
            <a:off x="1325880" y="4709159"/>
            <a:ext cx="9875520" cy="457200"/>
          </a:xfrm>
          <a:prstGeom prst="rect">
            <a:avLst/>
          </a:prstGeom>
          <a:noFill/>
        </p:spPr>
        <p:txBody>
          <a:bodyPr wrap="square" anchor="t" lIns="0" rIns="0" tIns="0" bIns="0">
            <a:spAutoFit/>
          </a:bodyPr>
          <a:lstStyle/>
          <a:p>
            <a:pPr algn="l">
              <a:lnSpc>
                <a:spcPct val="100000"/>
              </a:lnSpc>
              <a:spcAft>
                <a:spcPts val="0"/>
              </a:spcAft>
            </a:pPr>
            <a:r>
              <a:rPr sz="1600" b="0" i="0">
                <a:solidFill>
                  <a:srgbClr val="2B2B2B"/>
                </a:solidFill>
                <a:latin typeface="Calibri"/>
              </a:rPr>
              <a:t>Umsetzung mit Windows-Sockets (Winsock2) wie gefordert</a:t>
            </a:r>
          </a:p>
        </p:txBody>
      </p:sp>
      <p:sp>
        <p:nvSpPr>
          <p:cNvPr id="13" name="TextBox 12"/>
          <p:cNvSpPr txBox="1"/>
          <p:nvPr/>
        </p:nvSpPr>
        <p:spPr>
          <a:xfrm>
            <a:off x="640080" y="6473952"/>
            <a:ext cx="7315200" cy="274320"/>
          </a:xfrm>
          <a:prstGeom prst="rect">
            <a:avLst/>
          </a:prstGeom>
          <a:noFill/>
        </p:spPr>
        <p:txBody>
          <a:bodyPr wrap="square" anchor="t" lIns="0" rIns="0" tIns="0" bIns="0">
            <a:spAutoFit/>
          </a:bodyPr>
          <a:lstStyle/>
          <a:p>
            <a:pPr algn="l">
              <a:lnSpc>
                <a:spcPct val="100000"/>
              </a:lnSpc>
              <a:spcAft>
                <a:spcPts val="0"/>
              </a:spcAft>
            </a:pPr>
            <a:r>
              <a:rPr sz="1000" b="0" i="0">
                <a:solidFill>
                  <a:srgbClr val="5A6B7B"/>
                </a:solidFill>
                <a:latin typeface="Calibri"/>
              </a:rPr>
              <a:t>TCP Chat-Server in C++  ·  Fachprüfungsprojekt</a:t>
            </a:r>
          </a:p>
        </p:txBody>
      </p:sp>
      <p:sp>
        <p:nvSpPr>
          <p:cNvPr id="14" name="TextBox 13"/>
          <p:cNvSpPr txBox="1"/>
          <p:nvPr/>
        </p:nvSpPr>
        <p:spPr>
          <a:xfrm>
            <a:off x="11064240" y="6473952"/>
            <a:ext cx="548640" cy="274320"/>
          </a:xfrm>
          <a:prstGeom prst="rect">
            <a:avLst/>
          </a:prstGeom>
          <a:noFill/>
        </p:spPr>
        <p:txBody>
          <a:bodyPr wrap="square" anchor="t" lIns="0" rIns="0" tIns="0" bIns="0">
            <a:spAutoFit/>
          </a:bodyPr>
          <a:lstStyle/>
          <a:p>
            <a:pPr algn="r">
              <a:lnSpc>
                <a:spcPct val="100000"/>
              </a:lnSpc>
              <a:spcAft>
                <a:spcPts val="0"/>
              </a:spcAft>
            </a:pPr>
            <a:r>
              <a:rPr sz="1000" b="0" i="0">
                <a:solidFill>
                  <a:srgbClr val="5A6B7B"/>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EEF3FB"/>
        </a:solidFill>
        <a:effectLst/>
      </p:bgPr>
    </p:bg>
    <p:spTree>
      <p:nvGrpSpPr>
        <p:cNvPr id="1" name=""/>
        <p:cNvGrpSpPr/>
        <p:nvPr/>
      </p:nvGrpSpPr>
      <p:grpSpPr/>
      <p:sp>
        <p:nvSpPr>
          <p:cNvPr id="2" name="TextBox 1"/>
          <p:cNvSpPr txBox="1"/>
          <p:nvPr/>
        </p:nvSpPr>
        <p:spPr>
          <a:xfrm>
            <a:off x="640080" y="457200"/>
            <a:ext cx="10881360" cy="822960"/>
          </a:xfrm>
          <a:prstGeom prst="rect">
            <a:avLst/>
          </a:prstGeom>
          <a:noFill/>
        </p:spPr>
        <p:txBody>
          <a:bodyPr wrap="square" anchor="t" lIns="0" rIns="0" tIns="0" bIns="0">
            <a:spAutoFit/>
          </a:bodyPr>
          <a:lstStyle/>
          <a:p>
            <a:pPr algn="l">
              <a:lnSpc>
                <a:spcPct val="100000"/>
              </a:lnSpc>
              <a:spcAft>
                <a:spcPts val="0"/>
              </a:spcAft>
            </a:pPr>
            <a:r>
              <a:rPr sz="3200" b="1" i="0">
                <a:solidFill>
                  <a:srgbClr val="1E2761"/>
                </a:solidFill>
                <a:latin typeface="Cambria"/>
              </a:rPr>
              <a:t>Kritische Reflexion: Einsatz von KI-Tools</a:t>
            </a:r>
          </a:p>
        </p:txBody>
      </p:sp>
      <p:sp>
        <p:nvSpPr>
          <p:cNvPr id="3" name="Rounded Rectangle 2"/>
          <p:cNvSpPr/>
          <p:nvPr/>
        </p:nvSpPr>
        <p:spPr>
          <a:xfrm>
            <a:off x="640080" y="1554480"/>
            <a:ext cx="5120640" cy="3794760"/>
          </a:xfrm>
          <a:prstGeom prst="roundRect">
            <a:avLst>
              <a:gd name="adj" fmla="val 6000"/>
            </a:avLst>
          </a:prstGeom>
          <a:solidFill>
            <a:srgbClr val="FFFFFF"/>
          </a:solidFill>
          <a:ln>
            <a:noFill/>
          </a:ln>
          <a:effectLst/>
          <a:effectLst>
            <a:outerShdw blurRad="90000" dist="25000" dir="5400000"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783080"/>
            <a:ext cx="4572000" cy="411480"/>
          </a:xfrm>
          <a:prstGeom prst="rect">
            <a:avLst/>
          </a:prstGeom>
          <a:noFill/>
        </p:spPr>
        <p:txBody>
          <a:bodyPr wrap="square" anchor="t" lIns="0" rIns="0" tIns="0" bIns="0">
            <a:spAutoFit/>
          </a:bodyPr>
          <a:lstStyle/>
          <a:p>
            <a:pPr algn="l">
              <a:lnSpc>
                <a:spcPct val="100000"/>
              </a:lnSpc>
              <a:spcAft>
                <a:spcPts val="0"/>
              </a:spcAft>
            </a:pPr>
            <a:r>
              <a:rPr sz="1600" b="1" i="0">
                <a:solidFill>
                  <a:srgbClr val="1E2761"/>
                </a:solidFill>
                <a:latin typeface="Calibri"/>
              </a:rPr>
              <a:t>Wobei KI unterstützt hat</a:t>
            </a:r>
          </a:p>
        </p:txBody>
      </p:sp>
      <p:sp>
        <p:nvSpPr>
          <p:cNvPr id="5" name="TextBox 4"/>
          <p:cNvSpPr txBox="1"/>
          <p:nvPr/>
        </p:nvSpPr>
        <p:spPr>
          <a:xfrm>
            <a:off x="914400" y="2286000"/>
            <a:ext cx="4480560" cy="2926080"/>
          </a:xfrm>
          <a:prstGeom prst="rect">
            <a:avLst/>
          </a:prstGeom>
          <a:noFill/>
        </p:spPr>
        <p:txBody>
          <a:bodyPr wrap="square" lIns="0" rIns="0" tIns="0" bIns="0">
            <a:spAutoFit/>
          </a:bodyPr>
          <a:lstStyle/>
          <a:p>
            <a:pPr indent="-201168" marL="201168">
              <a:lnSpc>
                <a:spcPct val="105000"/>
              </a:lnSpc>
              <a:spcAft>
                <a:spcPts val="1200"/>
              </a:spcAft>
              <a:buFont typeface="Calibri"/>
              <a:buChar char="–"/>
            </a:pPr>
            <a:r>
              <a:rPr sz="1400">
                <a:solidFill>
                  <a:srgbClr val="2B2B2B"/>
                </a:solidFill>
                <a:latin typeface="Calibri"/>
              </a:rPr>
              <a:t>Erste Code-Vorlage für Server und Client als Ausgangspunkt</a:t>
            </a:r>
          </a:p>
          <a:p>
            <a:pPr indent="-201168" marL="201168">
              <a:lnSpc>
                <a:spcPct val="105000"/>
              </a:lnSpc>
              <a:spcAft>
                <a:spcPts val="1200"/>
              </a:spcAft>
              <a:buFont typeface="Calibri"/>
              <a:buChar char="–"/>
            </a:pPr>
            <a:r>
              <a:rPr sz="1400">
                <a:solidFill>
                  <a:srgbClr val="2B2B2B"/>
                </a:solidFill>
                <a:latin typeface="Calibri"/>
              </a:rPr>
              <a:t>Vorschläge zur Fehlerdiagnose beim Einrichten der Umgebung</a:t>
            </a:r>
          </a:p>
          <a:p>
            <a:pPr indent="-201168" marL="201168">
              <a:lnSpc>
                <a:spcPct val="105000"/>
              </a:lnSpc>
              <a:spcAft>
                <a:spcPts val="1200"/>
              </a:spcAft>
              <a:buFont typeface="Calibri"/>
              <a:buChar char="–"/>
            </a:pPr>
            <a:r>
              <a:rPr sz="1400">
                <a:solidFill>
                  <a:srgbClr val="2B2B2B"/>
                </a:solidFill>
                <a:latin typeface="Calibri"/>
              </a:rPr>
              <a:t>Struktur für Ausführungsplan und Präsentation</a:t>
            </a:r>
          </a:p>
        </p:txBody>
      </p:sp>
      <p:sp>
        <p:nvSpPr>
          <p:cNvPr id="6" name="Rounded Rectangle 5"/>
          <p:cNvSpPr/>
          <p:nvPr/>
        </p:nvSpPr>
        <p:spPr>
          <a:xfrm>
            <a:off x="6126480" y="1554480"/>
            <a:ext cx="5120640" cy="3794760"/>
          </a:xfrm>
          <a:prstGeom prst="roundRect">
            <a:avLst>
              <a:gd name="adj" fmla="val 6000"/>
            </a:avLst>
          </a:prstGeom>
          <a:solidFill>
            <a:srgbClr val="FFFFFF"/>
          </a:solidFill>
          <a:ln>
            <a:noFill/>
          </a:ln>
          <a:effectLst/>
          <a:effectLst>
            <a:outerShdw blurRad="90000" dist="25000" dir="5400000"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783080"/>
            <a:ext cx="4572000" cy="411480"/>
          </a:xfrm>
          <a:prstGeom prst="rect">
            <a:avLst/>
          </a:prstGeom>
          <a:noFill/>
        </p:spPr>
        <p:txBody>
          <a:bodyPr wrap="square" anchor="t" lIns="0" rIns="0" tIns="0" bIns="0">
            <a:spAutoFit/>
          </a:bodyPr>
          <a:lstStyle/>
          <a:p>
            <a:pPr algn="l">
              <a:lnSpc>
                <a:spcPct val="100000"/>
              </a:lnSpc>
              <a:spcAft>
                <a:spcPts val="0"/>
              </a:spcAft>
            </a:pPr>
            <a:r>
              <a:rPr sz="1600" b="1" i="0">
                <a:solidFill>
                  <a:srgbClr val="1E2761"/>
                </a:solidFill>
                <a:latin typeface="Calibri"/>
              </a:rPr>
              <a:t>Was ich selbst geleistet habe</a:t>
            </a:r>
          </a:p>
        </p:txBody>
      </p:sp>
      <p:sp>
        <p:nvSpPr>
          <p:cNvPr id="8" name="TextBox 7"/>
          <p:cNvSpPr txBox="1"/>
          <p:nvPr/>
        </p:nvSpPr>
        <p:spPr>
          <a:xfrm>
            <a:off x="6400800" y="2286000"/>
            <a:ext cx="4480560" cy="2926080"/>
          </a:xfrm>
          <a:prstGeom prst="rect">
            <a:avLst/>
          </a:prstGeom>
          <a:noFill/>
        </p:spPr>
        <p:txBody>
          <a:bodyPr wrap="square" lIns="0" rIns="0" tIns="0" bIns="0">
            <a:spAutoFit/>
          </a:bodyPr>
          <a:lstStyle/>
          <a:p>
            <a:pPr indent="-201168" marL="201168">
              <a:lnSpc>
                <a:spcPct val="105000"/>
              </a:lnSpc>
              <a:spcAft>
                <a:spcPts val="1200"/>
              </a:spcAft>
              <a:buFont typeface="Calibri"/>
              <a:buChar char="–"/>
            </a:pPr>
            <a:r>
              <a:rPr sz="1400">
                <a:solidFill>
                  <a:srgbClr val="2B2B2B"/>
                </a:solidFill>
                <a:latin typeface="Calibri"/>
              </a:rPr>
              <a:t>Entwicklungsumgebung eigenständig eingerichtet und Fehler live behoben</a:t>
            </a:r>
          </a:p>
          <a:p>
            <a:pPr indent="-201168" marL="201168">
              <a:lnSpc>
                <a:spcPct val="105000"/>
              </a:lnSpc>
              <a:spcAft>
                <a:spcPts val="1200"/>
              </a:spcAft>
              <a:buFont typeface="Calibri"/>
              <a:buChar char="–"/>
            </a:pPr>
            <a:r>
              <a:rPr sz="1400">
                <a:solidFill>
                  <a:srgbClr val="2B2B2B"/>
                </a:solidFill>
                <a:latin typeface="Calibri"/>
              </a:rPr>
              <a:t>Code Zeile für Zeile nachvollzogen statt nur kopiert</a:t>
            </a:r>
          </a:p>
          <a:p>
            <a:pPr indent="-201168" marL="201168">
              <a:lnSpc>
                <a:spcPct val="105000"/>
              </a:lnSpc>
              <a:spcAft>
                <a:spcPts val="1200"/>
              </a:spcAft>
              <a:buFont typeface="Calibri"/>
              <a:buChar char="–"/>
            </a:pPr>
            <a:r>
              <a:rPr sz="1400">
                <a:solidFill>
                  <a:srgbClr val="2B2B2B"/>
                </a:solidFill>
                <a:latin typeface="Calibri"/>
              </a:rPr>
              <a:t>Funktionstests und Fehlerfälle selbst durchgeführt und geprüft</a:t>
            </a:r>
          </a:p>
        </p:txBody>
      </p:sp>
      <p:sp>
        <p:nvSpPr>
          <p:cNvPr id="9" name="TextBox 8"/>
          <p:cNvSpPr txBox="1"/>
          <p:nvPr/>
        </p:nvSpPr>
        <p:spPr>
          <a:xfrm>
            <a:off x="640080" y="5577840"/>
            <a:ext cx="10607040" cy="822960"/>
          </a:xfrm>
          <a:prstGeom prst="rect">
            <a:avLst/>
          </a:prstGeom>
          <a:noFill/>
        </p:spPr>
        <p:txBody>
          <a:bodyPr wrap="square" anchor="t" lIns="0" rIns="0" tIns="0" bIns="0">
            <a:spAutoFit/>
          </a:bodyPr>
          <a:lstStyle/>
          <a:p>
            <a:pPr algn="l">
              <a:lnSpc>
                <a:spcPct val="100000"/>
              </a:lnSpc>
              <a:spcAft>
                <a:spcPts val="0"/>
              </a:spcAft>
            </a:pPr>
            <a:r>
              <a:rPr sz="1350" b="1" i="1">
                <a:solidFill>
                  <a:srgbClr val="1E2761"/>
                </a:solidFill>
                <a:latin typeface="Calibri"/>
              </a:rPr>
              <a:t>KI-Vorschläge wurden nicht ungeprüft übernommen, sondern gegen eigenes Verständnis und die Bewertungskriterien abgeglichen. Verantwortung für Korrektheit liegt bei mir.</a:t>
            </a:r>
          </a:p>
        </p:txBody>
      </p:sp>
      <p:sp>
        <p:nvSpPr>
          <p:cNvPr id="10" name="TextBox 9"/>
          <p:cNvSpPr txBox="1"/>
          <p:nvPr/>
        </p:nvSpPr>
        <p:spPr>
          <a:xfrm>
            <a:off x="640080" y="6473952"/>
            <a:ext cx="7315200" cy="274320"/>
          </a:xfrm>
          <a:prstGeom prst="rect">
            <a:avLst/>
          </a:prstGeom>
          <a:noFill/>
        </p:spPr>
        <p:txBody>
          <a:bodyPr wrap="square" anchor="t" lIns="0" rIns="0" tIns="0" bIns="0">
            <a:spAutoFit/>
          </a:bodyPr>
          <a:lstStyle/>
          <a:p>
            <a:pPr algn="l">
              <a:lnSpc>
                <a:spcPct val="100000"/>
              </a:lnSpc>
              <a:spcAft>
                <a:spcPts val="0"/>
              </a:spcAft>
            </a:pPr>
            <a:r>
              <a:rPr sz="1000" b="0" i="0">
                <a:solidFill>
                  <a:srgbClr val="5A6B7B"/>
                </a:solidFill>
                <a:latin typeface="Calibri"/>
              </a:rPr>
              <a:t>TCP Chat-Server in C++  ·  Fachprüfungsprojekt</a:t>
            </a:r>
          </a:p>
        </p:txBody>
      </p:sp>
      <p:sp>
        <p:nvSpPr>
          <p:cNvPr id="11" name="TextBox 10"/>
          <p:cNvSpPr txBox="1"/>
          <p:nvPr/>
        </p:nvSpPr>
        <p:spPr>
          <a:xfrm>
            <a:off x="11064240" y="6473952"/>
            <a:ext cx="548640" cy="274320"/>
          </a:xfrm>
          <a:prstGeom prst="rect">
            <a:avLst/>
          </a:prstGeom>
          <a:noFill/>
        </p:spPr>
        <p:txBody>
          <a:bodyPr wrap="square" anchor="t" lIns="0" rIns="0" tIns="0" bIns="0">
            <a:spAutoFit/>
          </a:bodyPr>
          <a:lstStyle/>
          <a:p>
            <a:pPr algn="r">
              <a:lnSpc>
                <a:spcPct val="100000"/>
              </a:lnSpc>
              <a:spcAft>
                <a:spcPts val="0"/>
              </a:spcAft>
            </a:pPr>
            <a:r>
              <a:rPr sz="1000" b="0" i="0">
                <a:solidFill>
                  <a:srgbClr val="5A6B7B"/>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640080" y="640080"/>
            <a:ext cx="7315200" cy="320040"/>
          </a:xfrm>
          <a:prstGeom prst="rect">
            <a:avLst/>
          </a:prstGeom>
          <a:noFill/>
        </p:spPr>
        <p:txBody>
          <a:bodyPr wrap="square" anchor="t" lIns="0" rIns="0" tIns="0" bIns="0">
            <a:spAutoFit/>
          </a:bodyPr>
          <a:lstStyle/>
          <a:p>
            <a:pPr algn="l">
              <a:lnSpc>
                <a:spcPct val="100000"/>
              </a:lnSpc>
              <a:spcAft>
                <a:spcPts val="0"/>
              </a:spcAft>
            </a:pPr>
            <a:r>
              <a:rPr sz="1300" b="1" i="0">
                <a:solidFill>
                  <a:srgbClr val="00B4D8"/>
                </a:solidFill>
                <a:latin typeface="Calibri"/>
              </a:rPr>
              <a:t>FAZIT</a:t>
            </a:r>
          </a:p>
        </p:txBody>
      </p:sp>
      <p:sp>
        <p:nvSpPr>
          <p:cNvPr id="3" name="TextBox 2"/>
          <p:cNvSpPr txBox="1"/>
          <p:nvPr/>
        </p:nvSpPr>
        <p:spPr>
          <a:xfrm>
            <a:off x="822960" y="1051560"/>
            <a:ext cx="9144000" cy="822960"/>
          </a:xfrm>
          <a:prstGeom prst="rect">
            <a:avLst/>
          </a:prstGeom>
          <a:noFill/>
        </p:spPr>
        <p:txBody>
          <a:bodyPr wrap="square" anchor="t" lIns="0" rIns="0" tIns="0" bIns="0">
            <a:spAutoFit/>
          </a:bodyPr>
          <a:lstStyle/>
          <a:p>
            <a:pPr algn="l">
              <a:lnSpc>
                <a:spcPct val="100000"/>
              </a:lnSpc>
              <a:spcAft>
                <a:spcPts val="0"/>
              </a:spcAft>
            </a:pPr>
            <a:r>
              <a:rPr sz="3400" b="1" i="0">
                <a:solidFill>
                  <a:srgbClr val="FFFFFF"/>
                </a:solidFill>
                <a:latin typeface="Cambria"/>
              </a:rPr>
              <a:t>Zusammenfassung &amp; Ausblick</a:t>
            </a:r>
          </a:p>
        </p:txBody>
      </p:sp>
      <p:sp>
        <p:nvSpPr>
          <p:cNvPr id="4" name="TextBox 3"/>
          <p:cNvSpPr txBox="1"/>
          <p:nvPr/>
        </p:nvSpPr>
        <p:spPr>
          <a:xfrm>
            <a:off x="822960" y="2103120"/>
            <a:ext cx="9601200" cy="2377440"/>
          </a:xfrm>
          <a:prstGeom prst="rect">
            <a:avLst/>
          </a:prstGeom>
          <a:noFill/>
        </p:spPr>
        <p:txBody>
          <a:bodyPr wrap="square" lIns="0" rIns="0" tIns="0" bIns="0">
            <a:spAutoFit/>
          </a:bodyPr>
          <a:lstStyle/>
          <a:p>
            <a:pPr indent="-201168" marL="201168">
              <a:lnSpc>
                <a:spcPct val="105000"/>
              </a:lnSpc>
              <a:spcAft>
                <a:spcPts val="1600"/>
              </a:spcAft>
              <a:buFont typeface="Calibri"/>
              <a:buChar char="–"/>
            </a:pPr>
            <a:r>
              <a:rPr sz="1700">
                <a:solidFill>
                  <a:srgbClr val="CADCFC"/>
                </a:solidFill>
                <a:latin typeface="Calibri"/>
              </a:rPr>
              <a:t>Ziel erreicht: funktionierender TCP-Chat-Server unter Windows mit Winsock2</a:t>
            </a:r>
          </a:p>
          <a:p>
            <a:pPr indent="-201168" marL="201168">
              <a:lnSpc>
                <a:spcPct val="105000"/>
              </a:lnSpc>
              <a:spcAft>
                <a:spcPts val="1600"/>
              </a:spcAft>
              <a:buFont typeface="Calibri"/>
              <a:buChar char="–"/>
            </a:pPr>
            <a:r>
              <a:rPr sz="1700">
                <a:solidFill>
                  <a:srgbClr val="CADCFC"/>
                </a:solidFill>
                <a:latin typeface="Calibri"/>
              </a:rPr>
              <a:t>Wichtigste Erkenntnis: Unterschiede Windows-/Linux-Sockets, Bedeutung blockierender Aufrufe</a:t>
            </a:r>
          </a:p>
          <a:p>
            <a:pPr indent="-201168" marL="201168">
              <a:lnSpc>
                <a:spcPct val="105000"/>
              </a:lnSpc>
              <a:spcAft>
                <a:spcPts val="1600"/>
              </a:spcAft>
              <a:buFont typeface="Calibri"/>
              <a:buChar char="–"/>
            </a:pPr>
            <a:r>
              <a:rPr sz="1700">
                <a:solidFill>
                  <a:srgbClr val="CADCFC"/>
                </a:solidFill>
                <a:latin typeface="Calibri"/>
              </a:rPr>
              <a:t>Ausblick: mehrere Clients gleichzeitig, Broadcast-Prinzip, robustere Fehlerbehandlung</a:t>
            </a:r>
          </a:p>
        </p:txBody>
      </p:sp>
      <p:sp>
        <p:nvSpPr>
          <p:cNvPr id="5" name="TextBox 4"/>
          <p:cNvSpPr txBox="1"/>
          <p:nvPr/>
        </p:nvSpPr>
        <p:spPr>
          <a:xfrm>
            <a:off x="822960" y="5120640"/>
            <a:ext cx="9144000" cy="548640"/>
          </a:xfrm>
          <a:prstGeom prst="rect">
            <a:avLst/>
          </a:prstGeom>
          <a:noFill/>
        </p:spPr>
        <p:txBody>
          <a:bodyPr wrap="square" anchor="t" lIns="0" rIns="0" tIns="0" bIns="0">
            <a:spAutoFit/>
          </a:bodyPr>
          <a:lstStyle/>
          <a:p>
            <a:pPr algn="l">
              <a:lnSpc>
                <a:spcPct val="100000"/>
              </a:lnSpc>
              <a:spcAft>
                <a:spcPts val="0"/>
              </a:spcAft>
            </a:pPr>
            <a:r>
              <a:rPr sz="2200" b="1" i="0">
                <a:solidFill>
                  <a:srgbClr val="FFFFFF"/>
                </a:solidFill>
                <a:latin typeface="Cambria"/>
              </a:rPr>
              <a:t>Vielen Dank für Ihre Aufmerksamkeit – Fragen?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